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9" r:id="rId8"/>
    <p:sldId id="262" r:id="rId9"/>
    <p:sldId id="270" r:id="rId10"/>
    <p:sldId id="278" r:id="rId11"/>
    <p:sldId id="279" r:id="rId12"/>
    <p:sldId id="280" r:id="rId13"/>
    <p:sldId id="281" r:id="rId14"/>
    <p:sldId id="282" r:id="rId15"/>
    <p:sldId id="284" r:id="rId16"/>
    <p:sldId id="268" r:id="rId17"/>
    <p:sldId id="277" r:id="rId18"/>
    <p:sldId id="287" r:id="rId19"/>
    <p:sldId id="272" r:id="rId20"/>
    <p:sldId id="265" r:id="rId21"/>
    <p:sldId id="271" r:id="rId22"/>
    <p:sldId id="274" r:id="rId23"/>
    <p:sldId id="275" r:id="rId24"/>
    <p:sldId id="288" r:id="rId25"/>
    <p:sldId id="273" r:id="rId26"/>
    <p:sldId id="266" r:id="rId27"/>
    <p:sldId id="267" r:id="rId28"/>
    <p:sldId id="290"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753C1-0A2A-F7F5-1C4A-E8BF1F6893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77AC9B3-27E4-15D8-B7F4-E31952DCB9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BCDAE30-029F-48AC-E9EA-BE3581E1911B}"/>
              </a:ext>
            </a:extLst>
          </p:cNvPr>
          <p:cNvSpPr>
            <a:spLocks noGrp="1"/>
          </p:cNvSpPr>
          <p:nvPr>
            <p:ph type="dt" sz="half" idx="10"/>
          </p:nvPr>
        </p:nvSpPr>
        <p:spPr/>
        <p:txBody>
          <a:bodyPr/>
          <a:lstStyle/>
          <a:p>
            <a:fld id="{D85E2E98-9EF3-4A74-82EA-635E19799AC3}" type="datetimeFigureOut">
              <a:rPr lang="en-IN" smtClean="0"/>
              <a:t>18-11-2025</a:t>
            </a:fld>
            <a:endParaRPr lang="en-IN"/>
          </a:p>
        </p:txBody>
      </p:sp>
      <p:sp>
        <p:nvSpPr>
          <p:cNvPr id="5" name="Footer Placeholder 4">
            <a:extLst>
              <a:ext uri="{FF2B5EF4-FFF2-40B4-BE49-F238E27FC236}">
                <a16:creationId xmlns:a16="http://schemas.microsoft.com/office/drawing/2014/main" id="{8DD7CE6A-9645-CEC4-C843-0E88EB06FC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D4F920-7AE1-928C-B3E9-F54C7A3B706B}"/>
              </a:ext>
            </a:extLst>
          </p:cNvPr>
          <p:cNvSpPr>
            <a:spLocks noGrp="1"/>
          </p:cNvSpPr>
          <p:nvPr>
            <p:ph type="sldNum" sz="quarter" idx="12"/>
          </p:nvPr>
        </p:nvSpPr>
        <p:spPr/>
        <p:txBody>
          <a:bodyPr/>
          <a:lstStyle/>
          <a:p>
            <a:fld id="{01740719-70CB-4EAC-85A7-902B367631B5}" type="slidenum">
              <a:rPr lang="en-IN" smtClean="0"/>
              <a:t>‹#›</a:t>
            </a:fld>
            <a:endParaRPr lang="en-IN"/>
          </a:p>
        </p:txBody>
      </p:sp>
    </p:spTree>
    <p:extLst>
      <p:ext uri="{BB962C8B-B14F-4D97-AF65-F5344CB8AC3E}">
        <p14:creationId xmlns:p14="http://schemas.microsoft.com/office/powerpoint/2010/main" val="2763168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E2BDE-0AD1-362D-2476-290F2ACE90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DCB785A-B4D1-7C43-E21C-ABB9D475EF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4CD91A-7D8C-43A6-ABB6-1724A6F52073}"/>
              </a:ext>
            </a:extLst>
          </p:cNvPr>
          <p:cNvSpPr>
            <a:spLocks noGrp="1"/>
          </p:cNvSpPr>
          <p:nvPr>
            <p:ph type="dt" sz="half" idx="10"/>
          </p:nvPr>
        </p:nvSpPr>
        <p:spPr/>
        <p:txBody>
          <a:bodyPr/>
          <a:lstStyle/>
          <a:p>
            <a:fld id="{D85E2E98-9EF3-4A74-82EA-635E19799AC3}" type="datetimeFigureOut">
              <a:rPr lang="en-IN" smtClean="0"/>
              <a:t>18-11-2025</a:t>
            </a:fld>
            <a:endParaRPr lang="en-IN"/>
          </a:p>
        </p:txBody>
      </p:sp>
      <p:sp>
        <p:nvSpPr>
          <p:cNvPr id="5" name="Footer Placeholder 4">
            <a:extLst>
              <a:ext uri="{FF2B5EF4-FFF2-40B4-BE49-F238E27FC236}">
                <a16:creationId xmlns:a16="http://schemas.microsoft.com/office/drawing/2014/main" id="{6AF4FC08-582C-A731-605A-B89F8C8D90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D956BB-27B8-D0BF-9412-C756E25ACDA2}"/>
              </a:ext>
            </a:extLst>
          </p:cNvPr>
          <p:cNvSpPr>
            <a:spLocks noGrp="1"/>
          </p:cNvSpPr>
          <p:nvPr>
            <p:ph type="sldNum" sz="quarter" idx="12"/>
          </p:nvPr>
        </p:nvSpPr>
        <p:spPr/>
        <p:txBody>
          <a:bodyPr/>
          <a:lstStyle/>
          <a:p>
            <a:fld id="{01740719-70CB-4EAC-85A7-902B367631B5}" type="slidenum">
              <a:rPr lang="en-IN" smtClean="0"/>
              <a:t>‹#›</a:t>
            </a:fld>
            <a:endParaRPr lang="en-IN"/>
          </a:p>
        </p:txBody>
      </p:sp>
    </p:spTree>
    <p:extLst>
      <p:ext uri="{BB962C8B-B14F-4D97-AF65-F5344CB8AC3E}">
        <p14:creationId xmlns:p14="http://schemas.microsoft.com/office/powerpoint/2010/main" val="2822133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23057-B451-833B-1C3F-7CBECDF9EA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951F1CE-494E-2747-7F16-335838B1F5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C62028-FB7D-E5B0-371D-A844746A0561}"/>
              </a:ext>
            </a:extLst>
          </p:cNvPr>
          <p:cNvSpPr>
            <a:spLocks noGrp="1"/>
          </p:cNvSpPr>
          <p:nvPr>
            <p:ph type="dt" sz="half" idx="10"/>
          </p:nvPr>
        </p:nvSpPr>
        <p:spPr/>
        <p:txBody>
          <a:bodyPr/>
          <a:lstStyle/>
          <a:p>
            <a:fld id="{D85E2E98-9EF3-4A74-82EA-635E19799AC3}" type="datetimeFigureOut">
              <a:rPr lang="en-IN" smtClean="0"/>
              <a:t>18-11-2025</a:t>
            </a:fld>
            <a:endParaRPr lang="en-IN"/>
          </a:p>
        </p:txBody>
      </p:sp>
      <p:sp>
        <p:nvSpPr>
          <p:cNvPr id="5" name="Footer Placeholder 4">
            <a:extLst>
              <a:ext uri="{FF2B5EF4-FFF2-40B4-BE49-F238E27FC236}">
                <a16:creationId xmlns:a16="http://schemas.microsoft.com/office/drawing/2014/main" id="{6A02A306-BB67-B9DC-1366-C697AA6E57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35C5B8-6769-5A61-E834-7283C27C1B5A}"/>
              </a:ext>
            </a:extLst>
          </p:cNvPr>
          <p:cNvSpPr>
            <a:spLocks noGrp="1"/>
          </p:cNvSpPr>
          <p:nvPr>
            <p:ph type="sldNum" sz="quarter" idx="12"/>
          </p:nvPr>
        </p:nvSpPr>
        <p:spPr/>
        <p:txBody>
          <a:bodyPr/>
          <a:lstStyle/>
          <a:p>
            <a:fld id="{01740719-70CB-4EAC-85A7-902B367631B5}" type="slidenum">
              <a:rPr lang="en-IN" smtClean="0"/>
              <a:t>‹#›</a:t>
            </a:fld>
            <a:endParaRPr lang="en-IN"/>
          </a:p>
        </p:txBody>
      </p:sp>
    </p:spTree>
    <p:extLst>
      <p:ext uri="{BB962C8B-B14F-4D97-AF65-F5344CB8AC3E}">
        <p14:creationId xmlns:p14="http://schemas.microsoft.com/office/powerpoint/2010/main" val="2749468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90061-BD30-0D28-D355-8ECB779DDF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741ADE8-0BAF-879E-D602-B1C26BB0E9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7B341DA-34C1-9467-B7E8-E4DEF56240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1128BE2-2B15-393D-BFB2-00141CE58634}"/>
              </a:ext>
            </a:extLst>
          </p:cNvPr>
          <p:cNvSpPr>
            <a:spLocks noGrp="1"/>
          </p:cNvSpPr>
          <p:nvPr>
            <p:ph type="dt" sz="half" idx="10"/>
          </p:nvPr>
        </p:nvSpPr>
        <p:spPr/>
        <p:txBody>
          <a:bodyPr/>
          <a:lstStyle/>
          <a:p>
            <a:fld id="{D85E2E98-9EF3-4A74-82EA-635E19799AC3}" type="datetimeFigureOut">
              <a:rPr lang="en-IN" smtClean="0"/>
              <a:t>18-11-2025</a:t>
            </a:fld>
            <a:endParaRPr lang="en-IN"/>
          </a:p>
        </p:txBody>
      </p:sp>
      <p:sp>
        <p:nvSpPr>
          <p:cNvPr id="6" name="Footer Placeholder 5">
            <a:extLst>
              <a:ext uri="{FF2B5EF4-FFF2-40B4-BE49-F238E27FC236}">
                <a16:creationId xmlns:a16="http://schemas.microsoft.com/office/drawing/2014/main" id="{B22F6A08-7301-3C56-F852-A0231128BA8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ACAE9FC-057C-31A5-8B0A-7CC0BD323C9D}"/>
              </a:ext>
            </a:extLst>
          </p:cNvPr>
          <p:cNvSpPr>
            <a:spLocks noGrp="1"/>
          </p:cNvSpPr>
          <p:nvPr>
            <p:ph type="sldNum" sz="quarter" idx="12"/>
          </p:nvPr>
        </p:nvSpPr>
        <p:spPr/>
        <p:txBody>
          <a:bodyPr/>
          <a:lstStyle/>
          <a:p>
            <a:fld id="{01740719-70CB-4EAC-85A7-902B367631B5}" type="slidenum">
              <a:rPr lang="en-IN" smtClean="0"/>
              <a:t>‹#›</a:t>
            </a:fld>
            <a:endParaRPr lang="en-IN"/>
          </a:p>
        </p:txBody>
      </p:sp>
    </p:spTree>
    <p:extLst>
      <p:ext uri="{BB962C8B-B14F-4D97-AF65-F5344CB8AC3E}">
        <p14:creationId xmlns:p14="http://schemas.microsoft.com/office/powerpoint/2010/main" val="26416090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1B324-0DF1-8356-0194-455AE865AC1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23EDB44-72B9-669B-7DEB-5B6232F15A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372249-BFE0-BE06-CDAF-4E715F3A6D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DBDB0E1-18AD-2BEE-725E-8029C61D97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591892-C079-3F4D-F749-CFBD23ADEF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F82A75A-CD9E-2C6B-E7A1-FDCAC977BF11}"/>
              </a:ext>
            </a:extLst>
          </p:cNvPr>
          <p:cNvSpPr>
            <a:spLocks noGrp="1"/>
          </p:cNvSpPr>
          <p:nvPr>
            <p:ph type="dt" sz="half" idx="10"/>
          </p:nvPr>
        </p:nvSpPr>
        <p:spPr/>
        <p:txBody>
          <a:bodyPr/>
          <a:lstStyle/>
          <a:p>
            <a:fld id="{D85E2E98-9EF3-4A74-82EA-635E19799AC3}" type="datetimeFigureOut">
              <a:rPr lang="en-IN" smtClean="0"/>
              <a:t>18-11-2025</a:t>
            </a:fld>
            <a:endParaRPr lang="en-IN"/>
          </a:p>
        </p:txBody>
      </p:sp>
      <p:sp>
        <p:nvSpPr>
          <p:cNvPr id="8" name="Footer Placeholder 7">
            <a:extLst>
              <a:ext uri="{FF2B5EF4-FFF2-40B4-BE49-F238E27FC236}">
                <a16:creationId xmlns:a16="http://schemas.microsoft.com/office/drawing/2014/main" id="{AF5C1533-C506-B926-A522-0BF571A66CE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7D87A9F-E035-3578-1E92-155D52F330E5}"/>
              </a:ext>
            </a:extLst>
          </p:cNvPr>
          <p:cNvSpPr>
            <a:spLocks noGrp="1"/>
          </p:cNvSpPr>
          <p:nvPr>
            <p:ph type="sldNum" sz="quarter" idx="12"/>
          </p:nvPr>
        </p:nvSpPr>
        <p:spPr/>
        <p:txBody>
          <a:bodyPr/>
          <a:lstStyle/>
          <a:p>
            <a:fld id="{01740719-70CB-4EAC-85A7-902B367631B5}" type="slidenum">
              <a:rPr lang="en-IN" smtClean="0"/>
              <a:t>‹#›</a:t>
            </a:fld>
            <a:endParaRPr lang="en-IN"/>
          </a:p>
        </p:txBody>
      </p:sp>
    </p:spTree>
    <p:extLst>
      <p:ext uri="{BB962C8B-B14F-4D97-AF65-F5344CB8AC3E}">
        <p14:creationId xmlns:p14="http://schemas.microsoft.com/office/powerpoint/2010/main" val="2587192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537FE-4719-42BE-538A-9C515ED6D00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3E7445F-55D8-346D-175E-60883F336345}"/>
              </a:ext>
            </a:extLst>
          </p:cNvPr>
          <p:cNvSpPr>
            <a:spLocks noGrp="1"/>
          </p:cNvSpPr>
          <p:nvPr>
            <p:ph type="dt" sz="half" idx="10"/>
          </p:nvPr>
        </p:nvSpPr>
        <p:spPr/>
        <p:txBody>
          <a:bodyPr/>
          <a:lstStyle/>
          <a:p>
            <a:fld id="{D85E2E98-9EF3-4A74-82EA-635E19799AC3}" type="datetimeFigureOut">
              <a:rPr lang="en-IN" smtClean="0"/>
              <a:t>18-11-2025</a:t>
            </a:fld>
            <a:endParaRPr lang="en-IN"/>
          </a:p>
        </p:txBody>
      </p:sp>
      <p:sp>
        <p:nvSpPr>
          <p:cNvPr id="4" name="Footer Placeholder 3">
            <a:extLst>
              <a:ext uri="{FF2B5EF4-FFF2-40B4-BE49-F238E27FC236}">
                <a16:creationId xmlns:a16="http://schemas.microsoft.com/office/drawing/2014/main" id="{18DC2E9F-8247-4B25-AB38-563F23CDF4C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FF75A3A-84DD-61E4-353B-D1B0C0DAFFC9}"/>
              </a:ext>
            </a:extLst>
          </p:cNvPr>
          <p:cNvSpPr>
            <a:spLocks noGrp="1"/>
          </p:cNvSpPr>
          <p:nvPr>
            <p:ph type="sldNum" sz="quarter" idx="12"/>
          </p:nvPr>
        </p:nvSpPr>
        <p:spPr/>
        <p:txBody>
          <a:bodyPr/>
          <a:lstStyle/>
          <a:p>
            <a:fld id="{01740719-70CB-4EAC-85A7-902B367631B5}" type="slidenum">
              <a:rPr lang="en-IN" smtClean="0"/>
              <a:t>‹#›</a:t>
            </a:fld>
            <a:endParaRPr lang="en-IN"/>
          </a:p>
        </p:txBody>
      </p:sp>
    </p:spTree>
    <p:extLst>
      <p:ext uri="{BB962C8B-B14F-4D97-AF65-F5344CB8AC3E}">
        <p14:creationId xmlns:p14="http://schemas.microsoft.com/office/powerpoint/2010/main" val="355419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0AE08C-6C1A-2CDB-6C48-9AA94531AFC8}"/>
              </a:ext>
            </a:extLst>
          </p:cNvPr>
          <p:cNvSpPr>
            <a:spLocks noGrp="1"/>
          </p:cNvSpPr>
          <p:nvPr>
            <p:ph type="dt" sz="half" idx="10"/>
          </p:nvPr>
        </p:nvSpPr>
        <p:spPr/>
        <p:txBody>
          <a:bodyPr/>
          <a:lstStyle/>
          <a:p>
            <a:fld id="{D85E2E98-9EF3-4A74-82EA-635E19799AC3}" type="datetimeFigureOut">
              <a:rPr lang="en-IN" smtClean="0"/>
              <a:t>18-11-2025</a:t>
            </a:fld>
            <a:endParaRPr lang="en-IN"/>
          </a:p>
        </p:txBody>
      </p:sp>
      <p:sp>
        <p:nvSpPr>
          <p:cNvPr id="3" name="Footer Placeholder 2">
            <a:extLst>
              <a:ext uri="{FF2B5EF4-FFF2-40B4-BE49-F238E27FC236}">
                <a16:creationId xmlns:a16="http://schemas.microsoft.com/office/drawing/2014/main" id="{ADC17686-7982-61D9-77D4-55586C342A9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AEF7E92-991F-BEB7-6898-575370848F5A}"/>
              </a:ext>
            </a:extLst>
          </p:cNvPr>
          <p:cNvSpPr>
            <a:spLocks noGrp="1"/>
          </p:cNvSpPr>
          <p:nvPr>
            <p:ph type="sldNum" sz="quarter" idx="12"/>
          </p:nvPr>
        </p:nvSpPr>
        <p:spPr/>
        <p:txBody>
          <a:bodyPr/>
          <a:lstStyle/>
          <a:p>
            <a:fld id="{01740719-70CB-4EAC-85A7-902B367631B5}" type="slidenum">
              <a:rPr lang="en-IN" smtClean="0"/>
              <a:t>‹#›</a:t>
            </a:fld>
            <a:endParaRPr lang="en-IN"/>
          </a:p>
        </p:txBody>
      </p:sp>
    </p:spTree>
    <p:extLst>
      <p:ext uri="{BB962C8B-B14F-4D97-AF65-F5344CB8AC3E}">
        <p14:creationId xmlns:p14="http://schemas.microsoft.com/office/powerpoint/2010/main" val="2418228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1761B-758A-D158-BA39-38FF06D920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16299AB-45A5-2137-B0E1-488D2B6884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0FE4955-7701-9422-E033-01C7DBA74B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A63720-BE3B-D937-27D3-21D43078B6BA}"/>
              </a:ext>
            </a:extLst>
          </p:cNvPr>
          <p:cNvSpPr>
            <a:spLocks noGrp="1"/>
          </p:cNvSpPr>
          <p:nvPr>
            <p:ph type="dt" sz="half" idx="10"/>
          </p:nvPr>
        </p:nvSpPr>
        <p:spPr/>
        <p:txBody>
          <a:bodyPr/>
          <a:lstStyle/>
          <a:p>
            <a:fld id="{D85E2E98-9EF3-4A74-82EA-635E19799AC3}" type="datetimeFigureOut">
              <a:rPr lang="en-IN" smtClean="0"/>
              <a:t>18-11-2025</a:t>
            </a:fld>
            <a:endParaRPr lang="en-IN"/>
          </a:p>
        </p:txBody>
      </p:sp>
      <p:sp>
        <p:nvSpPr>
          <p:cNvPr id="6" name="Footer Placeholder 5">
            <a:extLst>
              <a:ext uri="{FF2B5EF4-FFF2-40B4-BE49-F238E27FC236}">
                <a16:creationId xmlns:a16="http://schemas.microsoft.com/office/drawing/2014/main" id="{CA57DEAC-65DA-CE76-0063-8845614C65F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0DD755-C796-195D-F3AB-4BD376F3D433}"/>
              </a:ext>
            </a:extLst>
          </p:cNvPr>
          <p:cNvSpPr>
            <a:spLocks noGrp="1"/>
          </p:cNvSpPr>
          <p:nvPr>
            <p:ph type="sldNum" sz="quarter" idx="12"/>
          </p:nvPr>
        </p:nvSpPr>
        <p:spPr/>
        <p:txBody>
          <a:bodyPr/>
          <a:lstStyle/>
          <a:p>
            <a:fld id="{01740719-70CB-4EAC-85A7-902B367631B5}" type="slidenum">
              <a:rPr lang="en-IN" smtClean="0"/>
              <a:t>‹#›</a:t>
            </a:fld>
            <a:endParaRPr lang="en-IN"/>
          </a:p>
        </p:txBody>
      </p:sp>
    </p:spTree>
    <p:extLst>
      <p:ext uri="{BB962C8B-B14F-4D97-AF65-F5344CB8AC3E}">
        <p14:creationId xmlns:p14="http://schemas.microsoft.com/office/powerpoint/2010/main" val="3076595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6CC84-EE7E-17EE-4FB5-B3D7FD8946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3C61F67-BFC9-BFF9-25A8-4E431E34E2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AEAF9D1-78D5-EB23-9094-3F6488BEFF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20B287-9D28-1E52-459C-184A0776199E}"/>
              </a:ext>
            </a:extLst>
          </p:cNvPr>
          <p:cNvSpPr>
            <a:spLocks noGrp="1"/>
          </p:cNvSpPr>
          <p:nvPr>
            <p:ph type="dt" sz="half" idx="10"/>
          </p:nvPr>
        </p:nvSpPr>
        <p:spPr/>
        <p:txBody>
          <a:bodyPr/>
          <a:lstStyle/>
          <a:p>
            <a:fld id="{D85E2E98-9EF3-4A74-82EA-635E19799AC3}" type="datetimeFigureOut">
              <a:rPr lang="en-IN" smtClean="0"/>
              <a:t>18-11-2025</a:t>
            </a:fld>
            <a:endParaRPr lang="en-IN"/>
          </a:p>
        </p:txBody>
      </p:sp>
      <p:sp>
        <p:nvSpPr>
          <p:cNvPr id="6" name="Footer Placeholder 5">
            <a:extLst>
              <a:ext uri="{FF2B5EF4-FFF2-40B4-BE49-F238E27FC236}">
                <a16:creationId xmlns:a16="http://schemas.microsoft.com/office/drawing/2014/main" id="{AC7F554D-5F91-F1BE-37B3-7EF7D0A6D3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4D394F-39E6-57AB-9422-10C0F26835F8}"/>
              </a:ext>
            </a:extLst>
          </p:cNvPr>
          <p:cNvSpPr>
            <a:spLocks noGrp="1"/>
          </p:cNvSpPr>
          <p:nvPr>
            <p:ph type="sldNum" sz="quarter" idx="12"/>
          </p:nvPr>
        </p:nvSpPr>
        <p:spPr/>
        <p:txBody>
          <a:bodyPr/>
          <a:lstStyle/>
          <a:p>
            <a:fld id="{01740719-70CB-4EAC-85A7-902B367631B5}" type="slidenum">
              <a:rPr lang="en-IN" smtClean="0"/>
              <a:t>‹#›</a:t>
            </a:fld>
            <a:endParaRPr lang="en-IN"/>
          </a:p>
        </p:txBody>
      </p:sp>
    </p:spTree>
    <p:extLst>
      <p:ext uri="{BB962C8B-B14F-4D97-AF65-F5344CB8AC3E}">
        <p14:creationId xmlns:p14="http://schemas.microsoft.com/office/powerpoint/2010/main" val="2462023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96537-EC09-4DC6-0AEB-D57651FE2B4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AEC897-D541-2E99-C68A-E04C03734D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28299E-5AFE-4A83-D5A5-8B31C72A07FB}"/>
              </a:ext>
            </a:extLst>
          </p:cNvPr>
          <p:cNvSpPr>
            <a:spLocks noGrp="1"/>
          </p:cNvSpPr>
          <p:nvPr>
            <p:ph type="dt" sz="half" idx="10"/>
          </p:nvPr>
        </p:nvSpPr>
        <p:spPr/>
        <p:txBody>
          <a:bodyPr/>
          <a:lstStyle/>
          <a:p>
            <a:fld id="{D85E2E98-9EF3-4A74-82EA-635E19799AC3}" type="datetimeFigureOut">
              <a:rPr lang="en-IN" smtClean="0"/>
              <a:t>18-11-2025</a:t>
            </a:fld>
            <a:endParaRPr lang="en-IN"/>
          </a:p>
        </p:txBody>
      </p:sp>
      <p:sp>
        <p:nvSpPr>
          <p:cNvPr id="5" name="Footer Placeholder 4">
            <a:extLst>
              <a:ext uri="{FF2B5EF4-FFF2-40B4-BE49-F238E27FC236}">
                <a16:creationId xmlns:a16="http://schemas.microsoft.com/office/drawing/2014/main" id="{287BCB91-7D73-1D6A-B528-4816D857A5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5C049D-B02C-97B3-1D23-E761454121B2}"/>
              </a:ext>
            </a:extLst>
          </p:cNvPr>
          <p:cNvSpPr>
            <a:spLocks noGrp="1"/>
          </p:cNvSpPr>
          <p:nvPr>
            <p:ph type="sldNum" sz="quarter" idx="12"/>
          </p:nvPr>
        </p:nvSpPr>
        <p:spPr/>
        <p:txBody>
          <a:bodyPr/>
          <a:lstStyle/>
          <a:p>
            <a:fld id="{01740719-70CB-4EAC-85A7-902B367631B5}" type="slidenum">
              <a:rPr lang="en-IN" smtClean="0"/>
              <a:t>‹#›</a:t>
            </a:fld>
            <a:endParaRPr lang="en-IN"/>
          </a:p>
        </p:txBody>
      </p:sp>
    </p:spTree>
    <p:extLst>
      <p:ext uri="{BB962C8B-B14F-4D97-AF65-F5344CB8AC3E}">
        <p14:creationId xmlns:p14="http://schemas.microsoft.com/office/powerpoint/2010/main" val="3596323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12AC8F-328B-BEEF-9A53-8F0A44B775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104A67F-1D0D-CD1A-6E54-7A946A8C81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7F4D1F-9BD1-3046-1FCA-69D9DD9F0CF1}"/>
              </a:ext>
            </a:extLst>
          </p:cNvPr>
          <p:cNvSpPr>
            <a:spLocks noGrp="1"/>
          </p:cNvSpPr>
          <p:nvPr>
            <p:ph type="dt" sz="half" idx="10"/>
          </p:nvPr>
        </p:nvSpPr>
        <p:spPr/>
        <p:txBody>
          <a:bodyPr/>
          <a:lstStyle/>
          <a:p>
            <a:fld id="{D85E2E98-9EF3-4A74-82EA-635E19799AC3}" type="datetimeFigureOut">
              <a:rPr lang="en-IN" smtClean="0"/>
              <a:t>18-11-2025</a:t>
            </a:fld>
            <a:endParaRPr lang="en-IN"/>
          </a:p>
        </p:txBody>
      </p:sp>
      <p:sp>
        <p:nvSpPr>
          <p:cNvPr id="5" name="Footer Placeholder 4">
            <a:extLst>
              <a:ext uri="{FF2B5EF4-FFF2-40B4-BE49-F238E27FC236}">
                <a16:creationId xmlns:a16="http://schemas.microsoft.com/office/drawing/2014/main" id="{A9BD207F-6019-35A6-300B-F806A5B521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158D39-5E16-F43D-8C9B-94B5091379FA}"/>
              </a:ext>
            </a:extLst>
          </p:cNvPr>
          <p:cNvSpPr>
            <a:spLocks noGrp="1"/>
          </p:cNvSpPr>
          <p:nvPr>
            <p:ph type="sldNum" sz="quarter" idx="12"/>
          </p:nvPr>
        </p:nvSpPr>
        <p:spPr/>
        <p:txBody>
          <a:bodyPr/>
          <a:lstStyle/>
          <a:p>
            <a:fld id="{01740719-70CB-4EAC-85A7-902B367631B5}" type="slidenum">
              <a:rPr lang="en-IN" smtClean="0"/>
              <a:t>‹#›</a:t>
            </a:fld>
            <a:endParaRPr lang="en-IN"/>
          </a:p>
        </p:txBody>
      </p:sp>
    </p:spTree>
    <p:extLst>
      <p:ext uri="{BB962C8B-B14F-4D97-AF65-F5344CB8AC3E}">
        <p14:creationId xmlns:p14="http://schemas.microsoft.com/office/powerpoint/2010/main" val="3967256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5EFBF4-C14E-E375-1FBD-B6D9BF0B05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30B64E0-E580-F30E-3DA5-950D83B937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8D3F97-869F-F9EF-9B57-EF208DEF32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E2E98-9EF3-4A74-82EA-635E19799AC3}" type="datetimeFigureOut">
              <a:rPr lang="en-IN" smtClean="0"/>
              <a:t>18-11-2025</a:t>
            </a:fld>
            <a:endParaRPr lang="en-IN"/>
          </a:p>
        </p:txBody>
      </p:sp>
      <p:sp>
        <p:nvSpPr>
          <p:cNvPr id="5" name="Footer Placeholder 4">
            <a:extLst>
              <a:ext uri="{FF2B5EF4-FFF2-40B4-BE49-F238E27FC236}">
                <a16:creationId xmlns:a16="http://schemas.microsoft.com/office/drawing/2014/main" id="{3D094D46-7816-C904-D08E-97A72611A2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D6CA209-9DB6-466D-4E72-6612AED578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740719-70CB-4EAC-85A7-902B367631B5}" type="slidenum">
              <a:rPr lang="en-IN" smtClean="0"/>
              <a:t>‹#›</a:t>
            </a:fld>
            <a:endParaRPr lang="en-IN"/>
          </a:p>
        </p:txBody>
      </p:sp>
    </p:spTree>
    <p:extLst>
      <p:ext uri="{BB962C8B-B14F-4D97-AF65-F5344CB8AC3E}">
        <p14:creationId xmlns:p14="http://schemas.microsoft.com/office/powerpoint/2010/main" val="4231050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5A607-4217-D29F-1152-F0F9C16EA30F}"/>
              </a:ext>
            </a:extLst>
          </p:cNvPr>
          <p:cNvSpPr>
            <a:spLocks noGrp="1"/>
          </p:cNvSpPr>
          <p:nvPr>
            <p:ph type="ctrTitle"/>
          </p:nvPr>
        </p:nvSpPr>
        <p:spPr>
          <a:xfrm>
            <a:off x="1524000" y="325284"/>
            <a:ext cx="9144000" cy="2387600"/>
          </a:xfrm>
        </p:spPr>
        <p:txBody>
          <a:bodyPr/>
          <a:lstStyle/>
          <a:p>
            <a:r>
              <a:rPr lang="en-US" dirty="0"/>
              <a:t>CONTROL ANALYSIS OF A TWO-LINK ROBOT ARM</a:t>
            </a:r>
            <a:endParaRPr lang="en-IN" dirty="0"/>
          </a:p>
        </p:txBody>
      </p:sp>
      <p:sp>
        <p:nvSpPr>
          <p:cNvPr id="3" name="Subtitle 2">
            <a:extLst>
              <a:ext uri="{FF2B5EF4-FFF2-40B4-BE49-F238E27FC236}">
                <a16:creationId xmlns:a16="http://schemas.microsoft.com/office/drawing/2014/main" id="{034C7232-6116-C68E-F442-82B1D158A992}"/>
              </a:ext>
            </a:extLst>
          </p:cNvPr>
          <p:cNvSpPr>
            <a:spLocks noGrp="1"/>
          </p:cNvSpPr>
          <p:nvPr>
            <p:ph type="subTitle" idx="1"/>
          </p:nvPr>
        </p:nvSpPr>
        <p:spPr>
          <a:xfrm>
            <a:off x="1524000" y="2740384"/>
            <a:ext cx="9144000" cy="1097781"/>
          </a:xfrm>
        </p:spPr>
        <p:txBody>
          <a:bodyPr/>
          <a:lstStyle/>
          <a:p>
            <a:r>
              <a:rPr lang="en-IN" dirty="0"/>
              <a:t>CONTROL SYSTEMS DESIGN PROJECT</a:t>
            </a:r>
          </a:p>
          <a:p>
            <a:r>
              <a:rPr lang="en-IN" dirty="0"/>
              <a:t>Prof. Ashok Kumar Pandey</a:t>
            </a:r>
          </a:p>
        </p:txBody>
      </p:sp>
      <p:sp>
        <p:nvSpPr>
          <p:cNvPr id="5" name="Subtitle 2">
            <a:extLst>
              <a:ext uri="{FF2B5EF4-FFF2-40B4-BE49-F238E27FC236}">
                <a16:creationId xmlns:a16="http://schemas.microsoft.com/office/drawing/2014/main" id="{F50C45C7-D2FC-79A1-3DD6-3D4CE11B662A}"/>
              </a:ext>
            </a:extLst>
          </p:cNvPr>
          <p:cNvSpPr txBox="1">
            <a:spLocks/>
          </p:cNvSpPr>
          <p:nvPr/>
        </p:nvSpPr>
        <p:spPr>
          <a:xfrm>
            <a:off x="1524000" y="3838165"/>
            <a:ext cx="9144000" cy="163840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1800" dirty="0"/>
              <a:t>Authors and Contributions</a:t>
            </a:r>
          </a:p>
          <a:p>
            <a:r>
              <a:rPr lang="en-IN" sz="1800" dirty="0"/>
              <a:t>Bestha Mukesh – ME25MTECH11011 – Research and Report.</a:t>
            </a:r>
            <a:br>
              <a:rPr lang="en-IN" sz="1800" dirty="0"/>
            </a:br>
            <a:r>
              <a:rPr lang="en-IN" sz="1800" dirty="0"/>
              <a:t>Muhammed Shanshad PK – ME25MTECH11012 – Mathematical Modelling of the System </a:t>
            </a:r>
          </a:p>
          <a:p>
            <a:r>
              <a:rPr lang="en-IN" sz="1800" dirty="0"/>
              <a:t>Vidya Sagar Tirandas – ME25MTECH14010 – MATLAB simulation.</a:t>
            </a:r>
          </a:p>
        </p:txBody>
      </p:sp>
    </p:spTree>
    <p:extLst>
      <p:ext uri="{BB962C8B-B14F-4D97-AF65-F5344CB8AC3E}">
        <p14:creationId xmlns:p14="http://schemas.microsoft.com/office/powerpoint/2010/main" val="5797949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9EA3A-3064-99D8-AC73-495195687EB5}"/>
              </a:ext>
            </a:extLst>
          </p:cNvPr>
          <p:cNvSpPr>
            <a:spLocks noGrp="1"/>
          </p:cNvSpPr>
          <p:nvPr>
            <p:ph type="title"/>
          </p:nvPr>
        </p:nvSpPr>
        <p:spPr/>
        <p:txBody>
          <a:bodyPr/>
          <a:lstStyle/>
          <a:p>
            <a:r>
              <a:rPr lang="en-IN" dirty="0"/>
              <a:t>Abstract</a:t>
            </a:r>
          </a:p>
        </p:txBody>
      </p:sp>
      <p:sp>
        <p:nvSpPr>
          <p:cNvPr id="3" name="Content Placeholder 2">
            <a:extLst>
              <a:ext uri="{FF2B5EF4-FFF2-40B4-BE49-F238E27FC236}">
                <a16:creationId xmlns:a16="http://schemas.microsoft.com/office/drawing/2014/main" id="{FD128BE6-2606-9CD2-0573-132C089F8B9F}"/>
              </a:ext>
            </a:extLst>
          </p:cNvPr>
          <p:cNvSpPr>
            <a:spLocks noGrp="1"/>
          </p:cNvSpPr>
          <p:nvPr>
            <p:ph idx="1"/>
          </p:nvPr>
        </p:nvSpPr>
        <p:spPr/>
        <p:txBody>
          <a:bodyPr/>
          <a:lstStyle/>
          <a:p>
            <a:r>
              <a:rPr lang="en-US" dirty="0"/>
              <a:t>This project focuses on the control system of a </a:t>
            </a:r>
            <a:r>
              <a:rPr lang="en-US" b="1" dirty="0"/>
              <a:t>2-DOF robotic arm</a:t>
            </a:r>
            <a:r>
              <a:rPr lang="en-US" dirty="0"/>
              <a:t> consisting of shoulder and elbow joints.</a:t>
            </a:r>
          </a:p>
          <a:p>
            <a:r>
              <a:rPr lang="en-US" dirty="0"/>
              <a:t> Our project begins with analyzing the robotic arm, its features, mathematical modelling of the arm and finally performing simulation with results discussion. </a:t>
            </a:r>
          </a:p>
          <a:p>
            <a:r>
              <a:rPr lang="en-US" dirty="0"/>
              <a:t>The aim of the project is to apply the concepts of control systems design to design, simulate and study the stability of the 2 DOF robotic arm.</a:t>
            </a:r>
            <a:endParaRPr lang="en-IN" dirty="0"/>
          </a:p>
        </p:txBody>
      </p:sp>
    </p:spTree>
    <p:extLst>
      <p:ext uri="{BB962C8B-B14F-4D97-AF65-F5344CB8AC3E}">
        <p14:creationId xmlns:p14="http://schemas.microsoft.com/office/powerpoint/2010/main" val="1800570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94C2B-6759-4798-FFC7-854A5AB4DE4F}"/>
              </a:ext>
            </a:extLst>
          </p:cNvPr>
          <p:cNvSpPr>
            <a:spLocks noGrp="1"/>
          </p:cNvSpPr>
          <p:nvPr>
            <p:ph type="title"/>
          </p:nvPr>
        </p:nvSpPr>
        <p:spPr/>
        <p:txBody>
          <a:bodyPr/>
          <a:lstStyle/>
          <a:p>
            <a:r>
              <a:rPr lang="en-IN" dirty="0"/>
              <a:t>Introduction and Motivation</a:t>
            </a:r>
          </a:p>
        </p:txBody>
      </p:sp>
      <p:sp>
        <p:nvSpPr>
          <p:cNvPr id="3" name="Content Placeholder 2">
            <a:extLst>
              <a:ext uri="{FF2B5EF4-FFF2-40B4-BE49-F238E27FC236}">
                <a16:creationId xmlns:a16="http://schemas.microsoft.com/office/drawing/2014/main" id="{56137BA6-F715-CE50-196C-28352E671D7E}"/>
              </a:ext>
            </a:extLst>
          </p:cNvPr>
          <p:cNvSpPr>
            <a:spLocks noGrp="1"/>
          </p:cNvSpPr>
          <p:nvPr>
            <p:ph idx="1"/>
          </p:nvPr>
        </p:nvSpPr>
        <p:spPr/>
        <p:txBody>
          <a:bodyPr/>
          <a:lstStyle/>
          <a:p>
            <a:r>
              <a:rPr lang="en-US" dirty="0"/>
              <a:t>Robotic arms are used widely in automation, prosthetics, education and industrial tasks.</a:t>
            </a:r>
          </a:p>
          <a:p>
            <a:r>
              <a:rPr lang="en-US" dirty="0"/>
              <a:t>By modelling and simulating it, we understand how real robots behave before moving to higher-DOF systems.</a:t>
            </a:r>
          </a:p>
          <a:p>
            <a:r>
              <a:rPr lang="en-US" dirty="0"/>
              <a:t>A two-link robotic arm is simple but still shows real issues like nonlinearity, joint coupling, and gravity effects.</a:t>
            </a:r>
          </a:p>
          <a:p>
            <a:r>
              <a:rPr lang="en-US" dirty="0"/>
              <a:t>In this project, we derive both kinematic and dynamic equations and test the system in MATLAB/Simulink.</a:t>
            </a:r>
          </a:p>
          <a:p>
            <a:endParaRPr lang="en-US" dirty="0"/>
          </a:p>
          <a:p>
            <a:endParaRPr lang="en-US" dirty="0"/>
          </a:p>
          <a:p>
            <a:endParaRPr lang="en-IN" dirty="0"/>
          </a:p>
        </p:txBody>
      </p:sp>
    </p:spTree>
    <p:extLst>
      <p:ext uri="{BB962C8B-B14F-4D97-AF65-F5344CB8AC3E}">
        <p14:creationId xmlns:p14="http://schemas.microsoft.com/office/powerpoint/2010/main" val="305228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EF069-62A7-0DF3-8C4C-004A2515A47D}"/>
              </a:ext>
            </a:extLst>
          </p:cNvPr>
          <p:cNvSpPr>
            <a:spLocks noGrp="1"/>
          </p:cNvSpPr>
          <p:nvPr>
            <p:ph type="title"/>
          </p:nvPr>
        </p:nvSpPr>
        <p:spPr/>
        <p:txBody>
          <a:bodyPr/>
          <a:lstStyle/>
          <a:p>
            <a:r>
              <a:rPr lang="en-US" dirty="0"/>
              <a:t>Mathematical Model (Kinematics – Part 1)</a:t>
            </a:r>
            <a:endParaRPr lang="en-IN" dirty="0"/>
          </a:p>
        </p:txBody>
      </p:sp>
      <p:sp>
        <p:nvSpPr>
          <p:cNvPr id="3" name="Content Placeholder 2">
            <a:extLst>
              <a:ext uri="{FF2B5EF4-FFF2-40B4-BE49-F238E27FC236}">
                <a16:creationId xmlns:a16="http://schemas.microsoft.com/office/drawing/2014/main" id="{F96EA646-D043-DF88-E3DF-1C0459A24198}"/>
              </a:ext>
            </a:extLst>
          </p:cNvPr>
          <p:cNvSpPr>
            <a:spLocks noGrp="1"/>
          </p:cNvSpPr>
          <p:nvPr>
            <p:ph idx="1"/>
          </p:nvPr>
        </p:nvSpPr>
        <p:spPr>
          <a:xfrm>
            <a:off x="523568" y="1960562"/>
            <a:ext cx="10515600" cy="4351338"/>
          </a:xfrm>
        </p:spPr>
        <p:txBody>
          <a:bodyPr/>
          <a:lstStyle/>
          <a:p>
            <a:pPr marL="0" indent="0">
              <a:buNone/>
            </a:pPr>
            <a:r>
              <a:rPr lang="en-IN" dirty="0"/>
              <a:t>Forward Kinematics:</a:t>
            </a:r>
          </a:p>
          <a:p>
            <a:r>
              <a:rPr lang="en-IN" dirty="0"/>
              <a:t>Calculates end-effector position (x, y)</a:t>
            </a:r>
          </a:p>
          <a:p>
            <a:r>
              <a:rPr lang="en-US" dirty="0"/>
              <a:t>Uses link lengths </a:t>
            </a:r>
            <a:r>
              <a:rPr lang="en-US" b="1" dirty="0"/>
              <a:t>L1, L2</a:t>
            </a:r>
            <a:r>
              <a:rPr lang="en-US" dirty="0"/>
              <a:t> and joint angles </a:t>
            </a:r>
            <a:r>
              <a:rPr lang="en-US" b="1" dirty="0"/>
              <a:t>θ1, θ2.</a:t>
            </a:r>
          </a:p>
          <a:p>
            <a:r>
              <a:rPr lang="en-IN" dirty="0"/>
              <a:t>Standard FK equations:</a:t>
            </a:r>
          </a:p>
          <a:p>
            <a:pPr marL="514350" indent="-514350">
              <a:buFont typeface="+mj-lt"/>
              <a:buAutoNum type="arabicPeriod"/>
            </a:pPr>
            <a:r>
              <a:rPr lang="en-IN" dirty="0"/>
              <a:t>𝑥=𝐿1cos𝜃1+𝐿2cos(𝜃1+𝜃2)</a:t>
            </a:r>
          </a:p>
          <a:p>
            <a:pPr marL="514350" indent="-514350">
              <a:buFont typeface="+mj-lt"/>
              <a:buAutoNum type="arabicPeriod"/>
            </a:pPr>
            <a:r>
              <a:rPr lang="es-ES" dirty="0"/>
              <a:t>y=L1​sinθ1​+L2​sin(θ1​+θ2​)</a:t>
            </a:r>
            <a:endParaRPr lang="en-IN" dirty="0"/>
          </a:p>
        </p:txBody>
      </p:sp>
      <p:pic>
        <p:nvPicPr>
          <p:cNvPr id="5" name="Picture 4" descr="A diagram of a rectangular object&#10;&#10;AI-generated content may be incorrect.">
            <a:extLst>
              <a:ext uri="{FF2B5EF4-FFF2-40B4-BE49-F238E27FC236}">
                <a16:creationId xmlns:a16="http://schemas.microsoft.com/office/drawing/2014/main" id="{9DA551BE-39A1-D9F0-5CF6-F0CECB109A0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5264" y="2470598"/>
            <a:ext cx="4370091" cy="3015392"/>
          </a:xfrm>
          <a:prstGeom prst="rect">
            <a:avLst/>
          </a:prstGeom>
          <a:noFill/>
          <a:ln>
            <a:noFill/>
          </a:ln>
        </p:spPr>
      </p:pic>
    </p:spTree>
    <p:extLst>
      <p:ext uri="{BB962C8B-B14F-4D97-AF65-F5344CB8AC3E}">
        <p14:creationId xmlns:p14="http://schemas.microsoft.com/office/powerpoint/2010/main" val="1049955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ACED9-B6D1-3A09-4727-A5AECC715528}"/>
              </a:ext>
            </a:extLst>
          </p:cNvPr>
          <p:cNvSpPr>
            <a:spLocks noGrp="1"/>
          </p:cNvSpPr>
          <p:nvPr>
            <p:ph type="title"/>
          </p:nvPr>
        </p:nvSpPr>
        <p:spPr>
          <a:xfrm>
            <a:off x="730045" y="226142"/>
            <a:ext cx="10515600" cy="1325563"/>
          </a:xfrm>
        </p:spPr>
        <p:txBody>
          <a:bodyPr/>
          <a:lstStyle/>
          <a:p>
            <a:r>
              <a:rPr lang="en-US" dirty="0"/>
              <a:t>Mathematical Model (Kinematics – Part 2)</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6180BA2-ACBA-2194-591C-4F276EB8094A}"/>
                  </a:ext>
                </a:extLst>
              </p:cNvPr>
              <p:cNvSpPr>
                <a:spLocks noGrp="1"/>
              </p:cNvSpPr>
              <p:nvPr>
                <p:ph idx="1"/>
              </p:nvPr>
            </p:nvSpPr>
            <p:spPr>
              <a:xfrm>
                <a:off x="730045" y="1432335"/>
                <a:ext cx="10515600" cy="4351338"/>
              </a:xfrm>
            </p:spPr>
            <p:txBody>
              <a:bodyPr>
                <a:normAutofit/>
              </a:bodyPr>
              <a:lstStyle/>
              <a:p>
                <a:r>
                  <a:rPr lang="en-IN" dirty="0"/>
                  <a:t>Given end-effector position (x, y) and link lengths l₁, l₂.</a:t>
                </a:r>
              </a:p>
              <a:p>
                <a:r>
                  <a:rPr lang="en-IN" dirty="0"/>
                  <a:t>We have to find </a:t>
                </a:r>
                <a14:m>
                  <m:oMath xmlns:m="http://schemas.openxmlformats.org/officeDocument/2006/math">
                    <m:sSub>
                      <m:sSubPr>
                        <m:ctrlPr>
                          <a:rPr lang="en-IN" i="1" smtClean="0">
                            <a:latin typeface="Cambria Math" panose="02040503050406030204" pitchFamily="18" charset="0"/>
                            <a:ea typeface="Cambria Math" panose="02040503050406030204" pitchFamily="18" charset="0"/>
                          </a:rPr>
                        </m:ctrlPr>
                      </m:sSubPr>
                      <m:e>
                        <m:r>
                          <a:rPr lang="en-IN" i="1" smtClean="0">
                            <a:latin typeface="Cambria Math" panose="02040503050406030204" pitchFamily="18" charset="0"/>
                            <a:ea typeface="Cambria Math" panose="02040503050406030204" pitchFamily="18" charset="0"/>
                          </a:rPr>
                          <m:t>𝜃</m:t>
                        </m:r>
                      </m:e>
                      <m:sub>
                        <m:r>
                          <a:rPr lang="en-IN" b="0" i="1" smtClean="0">
                            <a:latin typeface="Cambria Math" panose="02040503050406030204" pitchFamily="18" charset="0"/>
                            <a:ea typeface="Cambria Math" panose="02040503050406030204" pitchFamily="18" charset="0"/>
                          </a:rPr>
                          <m:t>1</m:t>
                        </m:r>
                      </m:sub>
                    </m:sSub>
                    <m:r>
                      <a:rPr lang="en-IN" b="0" i="1" smtClean="0">
                        <a:latin typeface="Cambria Math" panose="02040503050406030204" pitchFamily="18" charset="0"/>
                        <a:ea typeface="Cambria Math" panose="02040503050406030204" pitchFamily="18" charset="0"/>
                      </a:rPr>
                      <m:t>,</m:t>
                    </m:r>
                    <m:sSub>
                      <m:sSubPr>
                        <m:ctrlPr>
                          <a:rPr lang="en-IN" i="1" smtClean="0">
                            <a:latin typeface="Cambria Math" panose="02040503050406030204" pitchFamily="18" charset="0"/>
                            <a:ea typeface="Cambria Math" panose="02040503050406030204" pitchFamily="18" charset="0"/>
                          </a:rPr>
                        </m:ctrlPr>
                      </m:sSubPr>
                      <m:e>
                        <m:r>
                          <a:rPr lang="en-IN" i="1" smtClean="0">
                            <a:latin typeface="Cambria Math" panose="02040503050406030204" pitchFamily="18" charset="0"/>
                            <a:ea typeface="Cambria Math" panose="02040503050406030204" pitchFamily="18" charset="0"/>
                          </a:rPr>
                          <m:t>𝜃</m:t>
                        </m:r>
                      </m:e>
                      <m:sub>
                        <m:r>
                          <a:rPr lang="en-IN" b="0" i="1" smtClean="0">
                            <a:latin typeface="Cambria Math" panose="02040503050406030204" pitchFamily="18" charset="0"/>
                            <a:ea typeface="Cambria Math" panose="02040503050406030204" pitchFamily="18" charset="0"/>
                          </a:rPr>
                          <m:t>2</m:t>
                        </m:r>
                      </m:sub>
                    </m:sSub>
                  </m:oMath>
                </a14:m>
                <a:br>
                  <a:rPr lang="en-IN" dirty="0"/>
                </a:br>
                <a:endParaRPr lang="en-IN" dirty="0"/>
              </a:p>
            </p:txBody>
          </p:sp>
        </mc:Choice>
        <mc:Fallback xmlns="">
          <p:sp>
            <p:nvSpPr>
              <p:cNvPr id="3" name="Content Placeholder 2">
                <a:extLst>
                  <a:ext uri="{FF2B5EF4-FFF2-40B4-BE49-F238E27FC236}">
                    <a16:creationId xmlns:a16="http://schemas.microsoft.com/office/drawing/2014/main" id="{96180BA2-ACBA-2194-591C-4F276EB8094A}"/>
                  </a:ext>
                </a:extLst>
              </p:cNvPr>
              <p:cNvSpPr>
                <a:spLocks noGrp="1" noRot="1" noChangeAspect="1" noMove="1" noResize="1" noEditPoints="1" noAdjustHandles="1" noChangeArrowheads="1" noChangeShapeType="1" noTextEdit="1"/>
              </p:cNvSpPr>
              <p:nvPr>
                <p:ph idx="1"/>
              </p:nvPr>
            </p:nvSpPr>
            <p:spPr>
              <a:xfrm>
                <a:off x="730045" y="1432335"/>
                <a:ext cx="10515600" cy="4351338"/>
              </a:xfrm>
              <a:blipFill>
                <a:blip r:embed="rId2"/>
                <a:stretch>
                  <a:fillRect l="-1043" t="-2381"/>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6043F153-AC3C-F513-9D93-86EBA47EDFE6}"/>
              </a:ext>
            </a:extLst>
          </p:cNvPr>
          <p:cNvPicPr>
            <a:picLocks noChangeAspect="1"/>
          </p:cNvPicPr>
          <p:nvPr/>
        </p:nvPicPr>
        <p:blipFill>
          <a:blip r:embed="rId3"/>
          <a:stretch>
            <a:fillRect/>
          </a:stretch>
        </p:blipFill>
        <p:spPr>
          <a:xfrm>
            <a:off x="1105631" y="2572417"/>
            <a:ext cx="3407375" cy="1822827"/>
          </a:xfrm>
          <a:prstGeom prst="rect">
            <a:avLst/>
          </a:prstGeom>
        </p:spPr>
      </p:pic>
      <p:pic>
        <p:nvPicPr>
          <p:cNvPr id="9" name="Picture 8">
            <a:extLst>
              <a:ext uri="{FF2B5EF4-FFF2-40B4-BE49-F238E27FC236}">
                <a16:creationId xmlns:a16="http://schemas.microsoft.com/office/drawing/2014/main" id="{D5BDE67D-B137-3A9C-6F1F-8F014BFD244A}"/>
              </a:ext>
            </a:extLst>
          </p:cNvPr>
          <p:cNvPicPr>
            <a:picLocks noChangeAspect="1"/>
          </p:cNvPicPr>
          <p:nvPr/>
        </p:nvPicPr>
        <p:blipFill>
          <a:blip r:embed="rId4"/>
          <a:stretch>
            <a:fillRect/>
          </a:stretch>
        </p:blipFill>
        <p:spPr>
          <a:xfrm>
            <a:off x="1105631" y="4477914"/>
            <a:ext cx="3531760" cy="1470602"/>
          </a:xfrm>
          <a:prstGeom prst="rect">
            <a:avLst/>
          </a:prstGeom>
        </p:spPr>
      </p:pic>
      <p:pic>
        <p:nvPicPr>
          <p:cNvPr id="11" name="Picture 10">
            <a:extLst>
              <a:ext uri="{FF2B5EF4-FFF2-40B4-BE49-F238E27FC236}">
                <a16:creationId xmlns:a16="http://schemas.microsoft.com/office/drawing/2014/main" id="{0B6D996C-D220-5295-18FA-71F8544F3F63}"/>
              </a:ext>
            </a:extLst>
          </p:cNvPr>
          <p:cNvPicPr>
            <a:picLocks noChangeAspect="1"/>
          </p:cNvPicPr>
          <p:nvPr/>
        </p:nvPicPr>
        <p:blipFill>
          <a:blip r:embed="rId5"/>
          <a:stretch>
            <a:fillRect/>
          </a:stretch>
        </p:blipFill>
        <p:spPr>
          <a:xfrm>
            <a:off x="5191314" y="2959828"/>
            <a:ext cx="2528780" cy="1961577"/>
          </a:xfrm>
          <a:prstGeom prst="rect">
            <a:avLst/>
          </a:prstGeom>
        </p:spPr>
      </p:pic>
      <p:pic>
        <p:nvPicPr>
          <p:cNvPr id="13" name="Picture 12">
            <a:extLst>
              <a:ext uri="{FF2B5EF4-FFF2-40B4-BE49-F238E27FC236}">
                <a16:creationId xmlns:a16="http://schemas.microsoft.com/office/drawing/2014/main" id="{E120BF36-5801-DEE2-B623-FB8B75761378}"/>
              </a:ext>
            </a:extLst>
          </p:cNvPr>
          <p:cNvPicPr>
            <a:picLocks noChangeAspect="1"/>
          </p:cNvPicPr>
          <p:nvPr/>
        </p:nvPicPr>
        <p:blipFill>
          <a:blip r:embed="rId6"/>
          <a:stretch>
            <a:fillRect/>
          </a:stretch>
        </p:blipFill>
        <p:spPr>
          <a:xfrm>
            <a:off x="5208085" y="5310282"/>
            <a:ext cx="4792780" cy="638234"/>
          </a:xfrm>
          <a:prstGeom prst="rect">
            <a:avLst/>
          </a:prstGeom>
        </p:spPr>
      </p:pic>
      <p:pic>
        <p:nvPicPr>
          <p:cNvPr id="15" name="Picture 14">
            <a:extLst>
              <a:ext uri="{FF2B5EF4-FFF2-40B4-BE49-F238E27FC236}">
                <a16:creationId xmlns:a16="http://schemas.microsoft.com/office/drawing/2014/main" id="{5BBFD770-06F5-1F9C-DCFF-73F8AA31A60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202163" y="1917283"/>
            <a:ext cx="3597405" cy="3074911"/>
          </a:xfrm>
          <a:prstGeom prst="rect">
            <a:avLst/>
          </a:prstGeom>
        </p:spPr>
      </p:pic>
    </p:spTree>
    <p:extLst>
      <p:ext uri="{BB962C8B-B14F-4D97-AF65-F5344CB8AC3E}">
        <p14:creationId xmlns:p14="http://schemas.microsoft.com/office/powerpoint/2010/main" val="1372290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3149D-6EBC-CEE5-24DF-C4D0F9F0FC62}"/>
              </a:ext>
            </a:extLst>
          </p:cNvPr>
          <p:cNvSpPr>
            <a:spLocks noGrp="1"/>
          </p:cNvSpPr>
          <p:nvPr>
            <p:ph type="title"/>
          </p:nvPr>
        </p:nvSpPr>
        <p:spPr/>
        <p:txBody>
          <a:bodyPr/>
          <a:lstStyle/>
          <a:p>
            <a:r>
              <a:rPr lang="en-US" dirty="0"/>
              <a:t>Mathematical Model (Dynamics – Part 1)</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77A1F5-30AD-33C6-D1E3-54A8034E8EF6}"/>
                  </a:ext>
                </a:extLst>
              </p:cNvPr>
              <p:cNvSpPr>
                <a:spLocks noGrp="1"/>
              </p:cNvSpPr>
              <p:nvPr>
                <p:ph idx="1"/>
              </p:nvPr>
            </p:nvSpPr>
            <p:spPr>
              <a:xfrm>
                <a:off x="481781" y="1533832"/>
                <a:ext cx="10872019" cy="4959043"/>
              </a:xfrm>
            </p:spPr>
            <p:txBody>
              <a:bodyPr>
                <a:normAutofit fontScale="70000" lnSpcReduction="20000"/>
              </a:bodyPr>
              <a:lstStyle/>
              <a:p>
                <a:pPr marL="0" indent="0">
                  <a:buNone/>
                </a:pPr>
                <a:r>
                  <a:rPr lang="en-IN" b="1" dirty="0"/>
                  <a:t>Assumptions</a:t>
                </a:r>
                <a:r>
                  <a:rPr lang="en-IN" dirty="0"/>
                  <a:t>:</a:t>
                </a:r>
              </a:p>
              <a:p>
                <a:r>
                  <a:rPr lang="en-IN" dirty="0"/>
                  <a:t>Rigid body</a:t>
                </a:r>
              </a:p>
              <a:p>
                <a:r>
                  <a:rPr lang="en-IN" dirty="0"/>
                  <a:t>No damping and Friction between joints are considered negligible.</a:t>
                </a:r>
              </a:p>
              <a:p>
                <a:pPr>
                  <a:buNone/>
                </a:pPr>
                <a:r>
                  <a:rPr lang="en-IN" b="1" dirty="0"/>
                  <a:t>Dynamic Modelling</a:t>
                </a:r>
              </a:p>
              <a:p>
                <a:pPr>
                  <a:buFont typeface="Arial" panose="020B0604020202020204" pitchFamily="34" charset="0"/>
                  <a:buChar char="•"/>
                </a:pPr>
                <a:r>
                  <a:rPr lang="en-IN" dirty="0"/>
                  <a:t>Derived using </a:t>
                </a:r>
                <a:r>
                  <a:rPr lang="en-IN" b="1" dirty="0"/>
                  <a:t>Euler–Lagrange formulation</a:t>
                </a:r>
                <a:endParaRPr lang="en-IN" dirty="0"/>
              </a:p>
              <a:p>
                <a:pPr>
                  <a:buFont typeface="Arial" panose="020B0604020202020204" pitchFamily="34" charset="0"/>
                  <a:buChar char="•"/>
                </a:pPr>
                <a:r>
                  <a:rPr lang="en-IN" dirty="0"/>
                  <a:t>Kinetic energy: depends on link mass, inertia, and velocities</a:t>
                </a:r>
              </a:p>
              <a:p>
                <a:pPr>
                  <a:buFont typeface="Arial" panose="020B0604020202020204" pitchFamily="34" charset="0"/>
                  <a:buChar char="•"/>
                </a:pPr>
                <a:r>
                  <a:rPr lang="en-IN" dirty="0"/>
                  <a:t>Potential energy: depends on gravity and height</a:t>
                </a:r>
              </a:p>
              <a:p>
                <a:pPr>
                  <a:buFont typeface="Arial" panose="020B0604020202020204" pitchFamily="34" charset="0"/>
                  <a:buChar char="•"/>
                </a:pPr>
                <a:r>
                  <a:rPr lang="en-IN" dirty="0"/>
                  <a:t>Final dynamic equation:</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𝑀</m:t>
                      </m:r>
                      <m:d>
                        <m:dPr>
                          <m:ctrlPr>
                            <a:rPr lang="ar-AE" i="1">
                              <a:latin typeface="Cambria Math" panose="02040503050406030204" pitchFamily="18" charset="0"/>
                            </a:rPr>
                          </m:ctrlPr>
                        </m:dPr>
                        <m:e>
                          <m:r>
                            <a:rPr lang="ar-AE" i="1">
                              <a:latin typeface="Cambria Math" panose="02040503050406030204" pitchFamily="18" charset="0"/>
                            </a:rPr>
                            <m:t>𝑞</m:t>
                          </m:r>
                        </m:e>
                      </m:d>
                      <m:acc>
                        <m:accPr>
                          <m:chr m:val="̈"/>
                          <m:ctrlPr>
                            <a:rPr lang="ar-AE" i="1">
                              <a:latin typeface="Cambria Math" panose="02040503050406030204" pitchFamily="18" charset="0"/>
                            </a:rPr>
                          </m:ctrlPr>
                        </m:accPr>
                        <m:e>
                          <m:r>
                            <a:rPr lang="ar-AE" i="1">
                              <a:latin typeface="Cambria Math" panose="02040503050406030204" pitchFamily="18" charset="0"/>
                            </a:rPr>
                            <m:t>𝑞</m:t>
                          </m:r>
                        </m:e>
                      </m:acc>
                      <m:r>
                        <a:rPr lang="ar-AE" i="0">
                          <a:latin typeface="Cambria Math" panose="02040503050406030204" pitchFamily="18" charset="0"/>
                        </a:rPr>
                        <m:t>+</m:t>
                      </m:r>
                      <m:r>
                        <a:rPr lang="ar-AE" i="1">
                          <a:latin typeface="Cambria Math" panose="02040503050406030204" pitchFamily="18" charset="0"/>
                        </a:rPr>
                        <m:t>𝐶</m:t>
                      </m:r>
                      <m:d>
                        <m:dPr>
                          <m:sepChr m:val=","/>
                          <m:ctrlPr>
                            <a:rPr lang="ar-AE" i="1">
                              <a:latin typeface="Cambria Math" panose="02040503050406030204" pitchFamily="18" charset="0"/>
                            </a:rPr>
                          </m:ctrlPr>
                        </m:dPr>
                        <m:e>
                          <m:r>
                            <a:rPr lang="ar-AE" i="1">
                              <a:latin typeface="Cambria Math" panose="02040503050406030204" pitchFamily="18" charset="0"/>
                            </a:rPr>
                            <m:t>𝑞</m:t>
                          </m:r>
                        </m:e>
                        <m:e>
                          <m:acc>
                            <m:accPr>
                              <m:chr m:val="̇"/>
                              <m:ctrlPr>
                                <a:rPr lang="ar-AE" i="1">
                                  <a:latin typeface="Cambria Math" panose="02040503050406030204" pitchFamily="18" charset="0"/>
                                </a:rPr>
                              </m:ctrlPr>
                            </m:accPr>
                            <m:e>
                              <m:r>
                                <a:rPr lang="ar-AE" i="1">
                                  <a:latin typeface="Cambria Math" panose="02040503050406030204" pitchFamily="18" charset="0"/>
                                </a:rPr>
                                <m:t>𝑞</m:t>
                              </m:r>
                            </m:e>
                          </m:acc>
                        </m:e>
                      </m:d>
                      <m:acc>
                        <m:accPr>
                          <m:chr m:val="̇"/>
                          <m:ctrlPr>
                            <a:rPr lang="ar-AE" i="1">
                              <a:latin typeface="Cambria Math" panose="02040503050406030204" pitchFamily="18" charset="0"/>
                            </a:rPr>
                          </m:ctrlPr>
                        </m:accPr>
                        <m:e>
                          <m:r>
                            <a:rPr lang="ar-AE" i="1">
                              <a:latin typeface="Cambria Math" panose="02040503050406030204" pitchFamily="18" charset="0"/>
                            </a:rPr>
                            <m:t>𝑞</m:t>
                          </m:r>
                        </m:e>
                      </m:acc>
                      <m:r>
                        <a:rPr lang="ar-AE" i="0">
                          <a:latin typeface="Cambria Math" panose="02040503050406030204" pitchFamily="18" charset="0"/>
                        </a:rPr>
                        <m:t>+</m:t>
                      </m:r>
                      <m:r>
                        <a:rPr lang="ar-AE" i="1">
                          <a:latin typeface="Cambria Math" panose="02040503050406030204" pitchFamily="18" charset="0"/>
                        </a:rPr>
                        <m:t>𝑔</m:t>
                      </m:r>
                      <m:d>
                        <m:dPr>
                          <m:ctrlPr>
                            <a:rPr lang="ar-AE" i="1">
                              <a:latin typeface="Cambria Math" panose="02040503050406030204" pitchFamily="18" charset="0"/>
                            </a:rPr>
                          </m:ctrlPr>
                        </m:dPr>
                        <m:e>
                          <m:r>
                            <a:rPr lang="ar-AE" i="1">
                              <a:latin typeface="Cambria Math" panose="02040503050406030204" pitchFamily="18" charset="0"/>
                            </a:rPr>
                            <m:t>𝑞</m:t>
                          </m:r>
                        </m:e>
                      </m:d>
                      <m:r>
                        <a:rPr lang="ar-AE" i="0">
                          <a:latin typeface="Cambria Math" panose="02040503050406030204" pitchFamily="18" charset="0"/>
                        </a:rPr>
                        <m:t>=</m:t>
                      </m:r>
                      <m:r>
                        <a:rPr lang="ar-AE" i="1">
                          <a:latin typeface="Cambria Math" panose="02040503050406030204" pitchFamily="18" charset="0"/>
                        </a:rPr>
                        <m:t>𝜏</m:t>
                      </m:r>
                    </m:oMath>
                  </m:oMathPara>
                </a14:m>
                <a:endParaRPr lang="ar-AE" dirty="0"/>
              </a:p>
              <a:p>
                <a:pPr>
                  <a:buNone/>
                </a:pPr>
                <a:r>
                  <a:rPr lang="en-IN" dirty="0"/>
                  <a:t>Where:</a:t>
                </a:r>
              </a:p>
              <a:p>
                <a:pPr>
                  <a:buFont typeface="Arial" panose="020B0604020202020204" pitchFamily="34" charset="0"/>
                  <a:buChar char="•"/>
                </a:pPr>
                <a14:m>
                  <m:oMath xmlns:m="http://schemas.openxmlformats.org/officeDocument/2006/math">
                    <m:r>
                      <a:rPr lang="en-IN" i="1">
                        <a:latin typeface="Cambria Math" panose="02040503050406030204" pitchFamily="18" charset="0"/>
                      </a:rPr>
                      <m:t>𝑀</m:t>
                    </m:r>
                    <m:d>
                      <m:dPr>
                        <m:ctrlPr>
                          <a:rPr lang="ar-AE" i="1">
                            <a:latin typeface="Cambria Math" panose="02040503050406030204" pitchFamily="18" charset="0"/>
                          </a:rPr>
                        </m:ctrlPr>
                      </m:dPr>
                      <m:e>
                        <m:r>
                          <a:rPr lang="ar-AE" i="1">
                            <a:latin typeface="Cambria Math" panose="02040503050406030204" pitchFamily="18" charset="0"/>
                          </a:rPr>
                          <m:t>𝑞</m:t>
                        </m:r>
                      </m:e>
                    </m:d>
                  </m:oMath>
                </a14:m>
                <a:r>
                  <a:rPr lang="ar-AE" dirty="0"/>
                  <a:t>: </a:t>
                </a:r>
                <a:r>
                  <a:rPr lang="en-IN" dirty="0"/>
                  <a:t>inertia matrix</a:t>
                </a:r>
              </a:p>
              <a:p>
                <a:pPr>
                  <a:buFont typeface="Arial" panose="020B0604020202020204" pitchFamily="34" charset="0"/>
                  <a:buChar char="•"/>
                </a:pPr>
                <a14:m>
                  <m:oMath xmlns:m="http://schemas.openxmlformats.org/officeDocument/2006/math">
                    <m:r>
                      <a:rPr lang="en-IN" i="1">
                        <a:latin typeface="Cambria Math" panose="02040503050406030204" pitchFamily="18" charset="0"/>
                      </a:rPr>
                      <m:t>𝐶</m:t>
                    </m:r>
                    <m:d>
                      <m:dPr>
                        <m:sepChr m:val=","/>
                        <m:ctrlPr>
                          <a:rPr lang="ar-AE" i="1">
                            <a:latin typeface="Cambria Math" panose="02040503050406030204" pitchFamily="18" charset="0"/>
                          </a:rPr>
                        </m:ctrlPr>
                      </m:dPr>
                      <m:e>
                        <m:r>
                          <a:rPr lang="ar-AE" i="1">
                            <a:latin typeface="Cambria Math" panose="02040503050406030204" pitchFamily="18" charset="0"/>
                          </a:rPr>
                          <m:t>𝑞</m:t>
                        </m:r>
                      </m:e>
                      <m:e>
                        <m:acc>
                          <m:accPr>
                            <m:chr m:val="̇"/>
                            <m:ctrlPr>
                              <a:rPr lang="ar-AE" i="1">
                                <a:latin typeface="Cambria Math" panose="02040503050406030204" pitchFamily="18" charset="0"/>
                              </a:rPr>
                            </m:ctrlPr>
                          </m:accPr>
                          <m:e>
                            <m:r>
                              <a:rPr lang="ar-AE" i="1">
                                <a:latin typeface="Cambria Math" panose="02040503050406030204" pitchFamily="18" charset="0"/>
                              </a:rPr>
                              <m:t>𝑞</m:t>
                            </m:r>
                          </m:e>
                        </m:acc>
                      </m:e>
                    </m:d>
                  </m:oMath>
                </a14:m>
                <a:r>
                  <a:rPr lang="ar-AE" dirty="0"/>
                  <a:t>: </a:t>
                </a:r>
                <a:r>
                  <a:rPr lang="en-IN" dirty="0"/>
                  <a:t>Coriolis &amp; centrifugal</a:t>
                </a:r>
              </a:p>
              <a:p>
                <a:pPr>
                  <a:buFont typeface="Arial" panose="020B0604020202020204" pitchFamily="34" charset="0"/>
                  <a:buChar char="•"/>
                </a:pPr>
                <a14:m>
                  <m:oMath xmlns:m="http://schemas.openxmlformats.org/officeDocument/2006/math">
                    <m:r>
                      <a:rPr lang="en-IN" i="1">
                        <a:latin typeface="Cambria Math" panose="02040503050406030204" pitchFamily="18" charset="0"/>
                      </a:rPr>
                      <m:t>𝑔</m:t>
                    </m:r>
                    <m:d>
                      <m:dPr>
                        <m:ctrlPr>
                          <a:rPr lang="ar-AE" i="1">
                            <a:latin typeface="Cambria Math" panose="02040503050406030204" pitchFamily="18" charset="0"/>
                          </a:rPr>
                        </m:ctrlPr>
                      </m:dPr>
                      <m:e>
                        <m:r>
                          <a:rPr lang="ar-AE" i="1">
                            <a:latin typeface="Cambria Math" panose="02040503050406030204" pitchFamily="18" charset="0"/>
                          </a:rPr>
                          <m:t>𝑞</m:t>
                        </m:r>
                      </m:e>
                    </m:d>
                  </m:oMath>
                </a14:m>
                <a:r>
                  <a:rPr lang="ar-AE" dirty="0"/>
                  <a:t>: </a:t>
                </a:r>
                <a:r>
                  <a:rPr lang="en-IN" dirty="0"/>
                  <a:t>gravity vector</a:t>
                </a:r>
              </a:p>
              <a:p>
                <a:pPr>
                  <a:buFont typeface="Arial" panose="020B0604020202020204" pitchFamily="34" charset="0"/>
                  <a:buChar char="•"/>
                </a:pPr>
                <a14:m>
                  <m:oMath xmlns:m="http://schemas.openxmlformats.org/officeDocument/2006/math">
                    <m:r>
                      <a:rPr lang="en-IN" i="1">
                        <a:latin typeface="Cambria Math" panose="02040503050406030204" pitchFamily="18" charset="0"/>
                      </a:rPr>
                      <m:t>𝜏</m:t>
                    </m:r>
                  </m:oMath>
                </a14:m>
                <a:r>
                  <a:rPr lang="en-IN" dirty="0"/>
                  <a:t>: control torques</a:t>
                </a:r>
              </a:p>
              <a:p>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CD77A1F5-30AD-33C6-D1E3-54A8034E8EF6}"/>
                  </a:ext>
                </a:extLst>
              </p:cNvPr>
              <p:cNvSpPr>
                <a:spLocks noGrp="1" noRot="1" noChangeAspect="1" noMove="1" noResize="1" noEditPoints="1" noAdjustHandles="1" noChangeArrowheads="1" noChangeShapeType="1" noTextEdit="1"/>
              </p:cNvSpPr>
              <p:nvPr>
                <p:ph idx="1"/>
              </p:nvPr>
            </p:nvSpPr>
            <p:spPr>
              <a:xfrm>
                <a:off x="481781" y="1533832"/>
                <a:ext cx="10872019" cy="4959043"/>
              </a:xfrm>
              <a:blipFill>
                <a:blip r:embed="rId2"/>
                <a:stretch>
                  <a:fillRect l="-561" t="-2337"/>
                </a:stretch>
              </a:blipFill>
            </p:spPr>
            <p:txBody>
              <a:bodyPr/>
              <a:lstStyle/>
              <a:p>
                <a:r>
                  <a:rPr lang="en-IN">
                    <a:noFill/>
                  </a:rPr>
                  <a:t> </a:t>
                </a:r>
              </a:p>
            </p:txBody>
          </p:sp>
        </mc:Fallback>
      </mc:AlternateContent>
    </p:spTree>
    <p:extLst>
      <p:ext uri="{BB962C8B-B14F-4D97-AF65-F5344CB8AC3E}">
        <p14:creationId xmlns:p14="http://schemas.microsoft.com/office/powerpoint/2010/main" val="904278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C4153B-D17A-19C6-2C79-8D553C12D28E}"/>
              </a:ext>
            </a:extLst>
          </p:cNvPr>
          <p:cNvSpPr>
            <a:spLocks noGrp="1"/>
          </p:cNvSpPr>
          <p:nvPr>
            <p:ph idx="1"/>
          </p:nvPr>
        </p:nvSpPr>
        <p:spPr>
          <a:xfrm>
            <a:off x="915630" y="629263"/>
            <a:ext cx="9811364" cy="1563331"/>
          </a:xfrm>
        </p:spPr>
        <p:txBody>
          <a:bodyPr>
            <a:normAutofit fontScale="92500" lnSpcReduction="20000"/>
          </a:bodyPr>
          <a:lstStyle/>
          <a:p>
            <a:pPr marL="0" indent="0">
              <a:buNone/>
            </a:pPr>
            <a:r>
              <a:rPr lang="en-US" dirty="0"/>
              <a:t>The dynamic behavior of the 2-DOF robotic arm is described by three key components: the </a:t>
            </a:r>
            <a:r>
              <a:rPr lang="en-US" b="1" dirty="0"/>
              <a:t>inertia matrix</a:t>
            </a:r>
            <a:r>
              <a:rPr lang="en-US" dirty="0"/>
              <a:t>, the </a:t>
            </a:r>
            <a:r>
              <a:rPr lang="en-US" b="1" dirty="0"/>
              <a:t>Coriolis/centrifugal matrix</a:t>
            </a:r>
            <a:r>
              <a:rPr lang="en-US" dirty="0"/>
              <a:t>, and the </a:t>
            </a:r>
            <a:r>
              <a:rPr lang="en-US" b="1" dirty="0"/>
              <a:t>gravity vector</a:t>
            </a:r>
            <a:r>
              <a:rPr lang="en-US" dirty="0"/>
              <a:t>. These terms come from the Euler–Lagrange derivation and together determine how the arm moves when torques are applied at the joints.</a:t>
            </a:r>
            <a:endParaRPr lang="en-IN" dirty="0"/>
          </a:p>
        </p:txBody>
      </p:sp>
      <p:pic>
        <p:nvPicPr>
          <p:cNvPr id="5" name="Picture 4">
            <a:extLst>
              <a:ext uri="{FF2B5EF4-FFF2-40B4-BE49-F238E27FC236}">
                <a16:creationId xmlns:a16="http://schemas.microsoft.com/office/drawing/2014/main" id="{C62B185B-1BF9-46DC-9016-9285C81855A2}"/>
              </a:ext>
            </a:extLst>
          </p:cNvPr>
          <p:cNvPicPr>
            <a:picLocks noChangeAspect="1"/>
          </p:cNvPicPr>
          <p:nvPr/>
        </p:nvPicPr>
        <p:blipFill>
          <a:blip r:embed="rId2"/>
          <a:stretch>
            <a:fillRect/>
          </a:stretch>
        </p:blipFill>
        <p:spPr>
          <a:xfrm>
            <a:off x="1810364" y="2463123"/>
            <a:ext cx="8168357" cy="3308413"/>
          </a:xfrm>
          <a:prstGeom prst="rect">
            <a:avLst/>
          </a:prstGeom>
        </p:spPr>
      </p:pic>
    </p:spTree>
    <p:extLst>
      <p:ext uri="{BB962C8B-B14F-4D97-AF65-F5344CB8AC3E}">
        <p14:creationId xmlns:p14="http://schemas.microsoft.com/office/powerpoint/2010/main" val="853327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9E4D4-FC55-1E6A-0486-3513F0273DE3}"/>
              </a:ext>
            </a:extLst>
          </p:cNvPr>
          <p:cNvSpPr>
            <a:spLocks noGrp="1"/>
          </p:cNvSpPr>
          <p:nvPr>
            <p:ph type="title"/>
          </p:nvPr>
        </p:nvSpPr>
        <p:spPr/>
        <p:txBody>
          <a:bodyPr/>
          <a:lstStyle/>
          <a:p>
            <a:r>
              <a:rPr lang="en-US" dirty="0"/>
              <a:t>Mathematical Model (Dynamics – Part 2: Linearization)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58F50B-F18D-2D1F-CB7B-B8D9F6F3D226}"/>
                  </a:ext>
                </a:extLst>
              </p:cNvPr>
              <p:cNvSpPr>
                <a:spLocks noGrp="1"/>
              </p:cNvSpPr>
              <p:nvPr>
                <p:ph idx="1"/>
              </p:nvPr>
            </p:nvSpPr>
            <p:spPr/>
            <p:txBody>
              <a:bodyPr>
                <a:normAutofit lnSpcReduction="10000"/>
              </a:bodyPr>
              <a:lstStyle/>
              <a:p>
                <a:pPr>
                  <a:buNone/>
                </a:pPr>
                <a:r>
                  <a:rPr lang="en-US" b="1" dirty="0"/>
                  <a:t>Why Linearization?</a:t>
                </a:r>
              </a:p>
              <a:p>
                <a:pPr>
                  <a:buFont typeface="Arial" panose="020B0604020202020204" pitchFamily="34" charset="0"/>
                  <a:buChar char="•"/>
                </a:pPr>
                <a:r>
                  <a:rPr lang="en-US" dirty="0"/>
                  <a:t>Nonlinear equations are difficult to control directly</a:t>
                </a:r>
              </a:p>
              <a:p>
                <a:pPr>
                  <a:buFont typeface="Arial" panose="020B0604020202020204" pitchFamily="34" charset="0"/>
                  <a:buChar char="•"/>
                </a:pPr>
                <a:r>
                  <a:rPr lang="en-US" dirty="0"/>
                  <a:t>PID, LQR, and classic tools need linear systems</a:t>
                </a:r>
              </a:p>
              <a:p>
                <a:r>
                  <a:rPr lang="en-US" dirty="0"/>
                  <a:t>Linearization done around equilibrium (</a:t>
                </a:r>
                <a14:m>
                  <m:oMath xmlns:m="http://schemas.openxmlformats.org/officeDocument/2006/math">
                    <m:acc>
                      <m:accPr>
                        <m:chr m:val="̇"/>
                        <m:ctrlPr>
                          <a:rPr lang="en-US" i="1" dirty="0" smtClean="0">
                            <a:latin typeface="Cambria Math" panose="02040503050406030204" pitchFamily="18" charset="0"/>
                          </a:rPr>
                        </m:ctrlPr>
                      </m:accPr>
                      <m:e>
                        <m:sSub>
                          <m:sSubPr>
                            <m:ctrlPr>
                              <a:rPr lang="en-US" i="1" dirty="0" smtClean="0">
                                <a:latin typeface="Cambria Math" panose="02040503050406030204" pitchFamily="18" charset="0"/>
                                <a:ea typeface="Cambria Math" panose="02040503050406030204" pitchFamily="18" charset="0"/>
                              </a:rPr>
                            </m:ctrlPr>
                          </m:sSubPr>
                          <m:e>
                            <m:r>
                              <a:rPr lang="en-US" i="1" dirty="0" smtClean="0">
                                <a:latin typeface="Cambria Math" panose="02040503050406030204" pitchFamily="18" charset="0"/>
                                <a:ea typeface="Cambria Math" panose="02040503050406030204" pitchFamily="18" charset="0"/>
                              </a:rPr>
                              <m:t>𝜃</m:t>
                            </m:r>
                          </m:e>
                          <m:sub>
                            <m:r>
                              <a:rPr lang="en-IN" b="0" i="1" dirty="0" smtClean="0">
                                <a:latin typeface="Cambria Math" panose="02040503050406030204" pitchFamily="18" charset="0"/>
                                <a:ea typeface="Cambria Math" panose="02040503050406030204" pitchFamily="18" charset="0"/>
                              </a:rPr>
                              <m:t>1</m:t>
                            </m:r>
                          </m:sub>
                        </m:sSub>
                      </m:e>
                    </m:acc>
                  </m:oMath>
                </a14:m>
                <a:r>
                  <a:rPr lang="en-US" dirty="0"/>
                  <a:t>= 0, </a:t>
                </a:r>
                <a14:m>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i="1" smtClean="0">
                                <a:latin typeface="Cambria Math" panose="02040503050406030204" pitchFamily="18" charset="0"/>
                                <a:ea typeface="Cambria Math" panose="02040503050406030204" pitchFamily="18" charset="0"/>
                              </a:rPr>
                              <m:t>𝜃</m:t>
                            </m:r>
                          </m:e>
                        </m:acc>
                      </m:e>
                      <m:sub>
                        <m:r>
                          <a:rPr lang="en-IN" b="0" i="1" smtClean="0">
                            <a:latin typeface="Cambria Math" panose="02040503050406030204" pitchFamily="18" charset="0"/>
                          </a:rPr>
                          <m:t>2</m:t>
                        </m:r>
                      </m:sub>
                    </m:sSub>
                  </m:oMath>
                </a14:m>
                <a:r>
                  <a:rPr lang="en-US" dirty="0"/>
                  <a:t>= 0)</a:t>
                </a:r>
              </a:p>
              <a:p>
                <a:pPr>
                  <a:buNone/>
                </a:pPr>
                <a:r>
                  <a:rPr lang="en-US" b="1" dirty="0"/>
                  <a:t>Steps</a:t>
                </a:r>
              </a:p>
              <a:p>
                <a:pPr>
                  <a:buFont typeface="+mj-lt"/>
                  <a:buAutoNum type="arabicPeriod"/>
                </a:pPr>
                <a:r>
                  <a:rPr lang="en-US" dirty="0"/>
                  <a:t>Define state vector</a:t>
                </a:r>
              </a:p>
              <a:p>
                <a:pPr>
                  <a:buFont typeface="+mj-lt"/>
                  <a:buAutoNum type="arabicPeriod"/>
                </a:pPr>
                <a:r>
                  <a:rPr lang="en-US" dirty="0"/>
                  <a:t>Compute Jacobians</a:t>
                </a:r>
              </a:p>
              <a:p>
                <a:pPr>
                  <a:buFont typeface="+mj-lt"/>
                  <a:buAutoNum type="arabicPeriod"/>
                </a:pPr>
                <a:r>
                  <a:rPr lang="en-US" dirty="0"/>
                  <a:t>Derive A, B, C, D matrices</a:t>
                </a:r>
              </a:p>
              <a:p>
                <a:pPr>
                  <a:buNone/>
                </a:pPr>
                <a:r>
                  <a:rPr lang="en-US" dirty="0"/>
                  <a:t>This allowed using state-space blocks in Simulink.</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0A58F50B-F18D-2D1F-CB7B-B8D9F6F3D226}"/>
                  </a:ext>
                </a:extLst>
              </p:cNvPr>
              <p:cNvSpPr>
                <a:spLocks noGrp="1" noRot="1" noChangeAspect="1" noMove="1" noResize="1" noEditPoints="1" noAdjustHandles="1" noChangeArrowheads="1" noChangeShapeType="1" noTextEdit="1"/>
              </p:cNvSpPr>
              <p:nvPr>
                <p:ph idx="1"/>
              </p:nvPr>
            </p:nvSpPr>
            <p:spPr>
              <a:blipFill>
                <a:blip r:embed="rId2"/>
                <a:stretch>
                  <a:fillRect l="-1217" t="-3081" b="-560"/>
                </a:stretch>
              </a:blipFill>
            </p:spPr>
            <p:txBody>
              <a:bodyPr/>
              <a:lstStyle/>
              <a:p>
                <a:r>
                  <a:rPr lang="en-IN">
                    <a:noFill/>
                  </a:rPr>
                  <a:t> </a:t>
                </a:r>
              </a:p>
            </p:txBody>
          </p:sp>
        </mc:Fallback>
      </mc:AlternateContent>
    </p:spTree>
    <p:extLst>
      <p:ext uri="{BB962C8B-B14F-4D97-AF65-F5344CB8AC3E}">
        <p14:creationId xmlns:p14="http://schemas.microsoft.com/office/powerpoint/2010/main" val="1765782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99E46-FF71-7DEC-AB51-18256C8BE6A2}"/>
              </a:ext>
            </a:extLst>
          </p:cNvPr>
          <p:cNvSpPr>
            <a:spLocks noGrp="1"/>
          </p:cNvSpPr>
          <p:nvPr>
            <p:ph type="title"/>
          </p:nvPr>
        </p:nvSpPr>
        <p:spPr/>
        <p:txBody>
          <a:bodyPr/>
          <a:lstStyle/>
          <a:p>
            <a:r>
              <a:rPr lang="en-IN" dirty="0"/>
              <a:t>Linearization</a:t>
            </a:r>
          </a:p>
        </p:txBody>
      </p:sp>
      <p:sp>
        <p:nvSpPr>
          <p:cNvPr id="3" name="Content Placeholder 2">
            <a:extLst>
              <a:ext uri="{FF2B5EF4-FFF2-40B4-BE49-F238E27FC236}">
                <a16:creationId xmlns:a16="http://schemas.microsoft.com/office/drawing/2014/main" id="{34CB11F2-1467-F525-AA58-BE8CC9E4E898}"/>
              </a:ext>
            </a:extLst>
          </p:cNvPr>
          <p:cNvSpPr>
            <a:spLocks noGrp="1"/>
          </p:cNvSpPr>
          <p:nvPr>
            <p:ph idx="1"/>
          </p:nvPr>
        </p:nvSpPr>
        <p:spPr/>
        <p:txBody>
          <a:bodyPr>
            <a:normAutofit/>
          </a:bodyPr>
          <a:lstStyle/>
          <a:p>
            <a:r>
              <a:rPr lang="en-US" sz="2400" dirty="0"/>
              <a:t>The dynamic equations of the 2-DOF robotic arm are </a:t>
            </a:r>
            <a:r>
              <a:rPr lang="en-US" sz="2400" b="1" dirty="0"/>
              <a:t>non-linear</a:t>
            </a:r>
            <a:r>
              <a:rPr lang="en-US" sz="2400" dirty="0"/>
              <a:t> because of trigonometric terms and coupling between joints. These nonlinearities make the system hard to analyze and difficult to control using classic methods.</a:t>
            </a:r>
          </a:p>
          <a:p>
            <a:r>
              <a:rPr lang="en-US" sz="2400" dirty="0"/>
              <a:t>To simplify the system, we </a:t>
            </a:r>
            <a:r>
              <a:rPr lang="en-US" sz="2400" b="1" dirty="0"/>
              <a:t>linearize</a:t>
            </a:r>
            <a:r>
              <a:rPr lang="en-US" sz="2400" dirty="0"/>
              <a:t> the nonlinear model. Linearization involves computing the </a:t>
            </a:r>
            <a:r>
              <a:rPr lang="en-US" sz="2400" b="1" dirty="0"/>
              <a:t>Jacobian matrices</a:t>
            </a:r>
            <a:r>
              <a:rPr lang="en-US" sz="2400" dirty="0"/>
              <a:t> of partial derivatives from the Euler–Lagrange equations to obtain the </a:t>
            </a:r>
            <a:r>
              <a:rPr lang="en-US" sz="2400" b="1" dirty="0"/>
              <a:t>A and B matrices</a:t>
            </a:r>
            <a:r>
              <a:rPr lang="en-US" sz="2400" dirty="0"/>
              <a:t> of the state-space model.</a:t>
            </a:r>
          </a:p>
          <a:p>
            <a:r>
              <a:rPr lang="en-US" sz="2400" dirty="0"/>
              <a:t>Non-linear dynamics represent the real </a:t>
            </a:r>
            <a:r>
              <a:rPr lang="en-US" sz="2400" dirty="0" err="1"/>
              <a:t>behaviour</a:t>
            </a:r>
            <a:r>
              <a:rPr lang="en-US" sz="2400" dirty="0"/>
              <a:t> of the robot, but controllers like </a:t>
            </a:r>
            <a:r>
              <a:rPr lang="en-US" sz="2400" b="1" dirty="0"/>
              <a:t>PID, LQR, and state feedback</a:t>
            </a:r>
            <a:r>
              <a:rPr lang="en-US" sz="2400" dirty="0"/>
              <a:t> are all designed for </a:t>
            </a:r>
            <a:r>
              <a:rPr lang="en-US" sz="2400" b="1" dirty="0"/>
              <a:t>linear, time-invariant systems</a:t>
            </a:r>
            <a:r>
              <a:rPr lang="en-US" sz="2400" dirty="0"/>
              <a:t>. So, by approximating the system near an equilibrium point, we can write the robot dynamics in standard state-space form and design controllers analytically.</a:t>
            </a:r>
          </a:p>
          <a:p>
            <a:endParaRPr lang="en-US" sz="2400" dirty="0"/>
          </a:p>
          <a:p>
            <a:endParaRPr lang="en-IN" sz="2400" dirty="0"/>
          </a:p>
        </p:txBody>
      </p:sp>
    </p:spTree>
    <p:extLst>
      <p:ext uri="{BB962C8B-B14F-4D97-AF65-F5344CB8AC3E}">
        <p14:creationId xmlns:p14="http://schemas.microsoft.com/office/powerpoint/2010/main" val="556276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2B43D-CCB6-0FE4-BB71-6627B3A8D3CF}"/>
              </a:ext>
            </a:extLst>
          </p:cNvPr>
          <p:cNvSpPr>
            <a:spLocks noGrp="1"/>
          </p:cNvSpPr>
          <p:nvPr>
            <p:ph type="title"/>
          </p:nvPr>
        </p:nvSpPr>
        <p:spPr>
          <a:xfrm>
            <a:off x="838200" y="89822"/>
            <a:ext cx="10515600" cy="1325563"/>
          </a:xfrm>
        </p:spPr>
        <p:txBody>
          <a:bodyPr/>
          <a:lstStyle/>
          <a:p>
            <a:r>
              <a:rPr lang="en-IN" dirty="0"/>
              <a:t>Steps of linearization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7B2EE0-CB4D-A44E-944F-914A84575ABE}"/>
                  </a:ext>
                </a:extLst>
              </p:cNvPr>
              <p:cNvSpPr>
                <a:spLocks noGrp="1"/>
              </p:cNvSpPr>
              <p:nvPr>
                <p:ph idx="1"/>
              </p:nvPr>
            </p:nvSpPr>
            <p:spPr>
              <a:xfrm>
                <a:off x="690714" y="1248236"/>
                <a:ext cx="5228305" cy="4179170"/>
              </a:xfrm>
            </p:spPr>
            <p:txBody>
              <a:bodyPr>
                <a:normAutofit/>
              </a:bodyPr>
              <a:lstStyle/>
              <a:p>
                <a:r>
                  <a:rPr lang="en-IN" sz="2400" b="1" dirty="0"/>
                  <a:t>Step 1: Define the State Variables</a:t>
                </a:r>
                <a:br>
                  <a:rPr lang="en-IN" sz="2400" dirty="0"/>
                </a:br>
                <a:r>
                  <a:rPr lang="en-IN" sz="2400" dirty="0"/>
                  <a:t>We express the nonlinear dynamics in state form:</a:t>
                </a:r>
                <a:br>
                  <a:rPr lang="en-IN" sz="2400" dirty="0"/>
                </a:br>
                <a:r>
                  <a:rPr lang="en-IN" sz="2400" dirty="0"/>
                  <a:t>x₁ = </a:t>
                </a:r>
                <a:r>
                  <a:rPr lang="el-GR" sz="2400" dirty="0"/>
                  <a:t>θ₁ , </a:t>
                </a:r>
                <a:r>
                  <a:rPr lang="en-IN" sz="2400" dirty="0"/>
                  <a:t>x₂ = </a:t>
                </a:r>
                <a:r>
                  <a:rPr lang="el-GR" sz="2400" dirty="0"/>
                  <a:t>θ₂ , </a:t>
                </a:r>
                <a:r>
                  <a:rPr lang="en-IN" sz="2400" dirty="0"/>
                  <a:t>x₃ = </a:t>
                </a:r>
                <a14:m>
                  <m:oMath xmlns:m="http://schemas.openxmlformats.org/officeDocument/2006/math">
                    <m:acc>
                      <m:accPr>
                        <m:chr m:val="̇"/>
                        <m:ctrlPr>
                          <a:rPr lang="el-GR" sz="2400" i="1" dirty="0" smtClean="0">
                            <a:latin typeface="Cambria Math" panose="02040503050406030204" pitchFamily="18" charset="0"/>
                          </a:rPr>
                        </m:ctrlPr>
                      </m:accPr>
                      <m:e>
                        <m:r>
                          <a:rPr lang="el-GR" sz="2400" i="1" dirty="0" smtClean="0">
                            <a:latin typeface="Cambria Math" panose="02040503050406030204" pitchFamily="18" charset="0"/>
                            <a:ea typeface="Cambria Math" panose="02040503050406030204" pitchFamily="18" charset="0"/>
                          </a:rPr>
                          <m:t>𝜃</m:t>
                        </m:r>
                      </m:e>
                    </m:acc>
                  </m:oMath>
                </a14:m>
                <a:r>
                  <a:rPr lang="el-GR" sz="2400" dirty="0"/>
                  <a:t>₁ , </a:t>
                </a:r>
                <a:r>
                  <a:rPr lang="en-IN" sz="2400" dirty="0"/>
                  <a:t>x₄ = </a:t>
                </a:r>
                <a14:m>
                  <m:oMath xmlns:m="http://schemas.openxmlformats.org/officeDocument/2006/math">
                    <m:acc>
                      <m:accPr>
                        <m:chr m:val="̇"/>
                        <m:ctrlPr>
                          <a:rPr lang="el-GR" sz="2400" i="1" dirty="0" smtClean="0">
                            <a:latin typeface="Cambria Math" panose="02040503050406030204" pitchFamily="18" charset="0"/>
                          </a:rPr>
                        </m:ctrlPr>
                      </m:accPr>
                      <m:e>
                        <m:r>
                          <a:rPr lang="el-GR" sz="2400" i="1" dirty="0" smtClean="0">
                            <a:latin typeface="Cambria Math" panose="02040503050406030204" pitchFamily="18" charset="0"/>
                            <a:ea typeface="Cambria Math" panose="02040503050406030204" pitchFamily="18" charset="0"/>
                          </a:rPr>
                          <m:t>𝜃</m:t>
                        </m:r>
                      </m:e>
                    </m:acc>
                  </m:oMath>
                </a14:m>
                <a:r>
                  <a:rPr lang="el-GR" sz="2400" dirty="0"/>
                  <a:t>₂</a:t>
                </a:r>
                <a:br>
                  <a:rPr lang="el-GR" sz="2400" dirty="0"/>
                </a:br>
                <a:r>
                  <a:rPr lang="en-IN" sz="2400" dirty="0"/>
                  <a:t>State vector:</a:t>
                </a:r>
                <a:br>
                  <a:rPr lang="en-IN" sz="2400" dirty="0"/>
                </a:br>
                <a:r>
                  <a:rPr lang="en-IN" sz="2400" dirty="0"/>
                  <a:t>x = [ </a:t>
                </a:r>
                <a:r>
                  <a:rPr lang="el-GR" sz="2400" dirty="0"/>
                  <a:t>θ₁ θ₂ </a:t>
                </a:r>
                <a14:m>
                  <m:oMath xmlns:m="http://schemas.openxmlformats.org/officeDocument/2006/math">
                    <m:acc>
                      <m:accPr>
                        <m:chr m:val="̇"/>
                        <m:ctrlPr>
                          <a:rPr lang="el-GR" sz="2400" i="1" dirty="0" smtClean="0">
                            <a:latin typeface="Cambria Math" panose="02040503050406030204" pitchFamily="18" charset="0"/>
                          </a:rPr>
                        </m:ctrlPr>
                      </m:accPr>
                      <m:e>
                        <m:sSub>
                          <m:sSubPr>
                            <m:ctrlPr>
                              <a:rPr lang="el-GR" sz="2400" i="1" dirty="0" smtClean="0">
                                <a:latin typeface="Cambria Math" panose="02040503050406030204" pitchFamily="18" charset="0"/>
                              </a:rPr>
                            </m:ctrlPr>
                          </m:sSubPr>
                          <m:e>
                            <m:r>
                              <a:rPr lang="el-GR" sz="2400" i="1" dirty="0" smtClean="0">
                                <a:latin typeface="Cambria Math" panose="02040503050406030204" pitchFamily="18" charset="0"/>
                                <a:ea typeface="Cambria Math" panose="02040503050406030204" pitchFamily="18" charset="0"/>
                              </a:rPr>
                              <m:t>𝜃</m:t>
                            </m:r>
                          </m:e>
                          <m:sub>
                            <m:r>
                              <a:rPr lang="en-IN" sz="2400" b="0" i="1" dirty="0" smtClean="0">
                                <a:latin typeface="Cambria Math" panose="02040503050406030204" pitchFamily="18" charset="0"/>
                              </a:rPr>
                              <m:t>1</m:t>
                            </m:r>
                          </m:sub>
                        </m:sSub>
                      </m:e>
                    </m:acc>
                    <m:sSub>
                      <m:sSubPr>
                        <m:ctrlPr>
                          <a:rPr lang="el-GR" sz="2400" i="1" dirty="0" smtClean="0">
                            <a:latin typeface="Cambria Math" panose="02040503050406030204" pitchFamily="18" charset="0"/>
                          </a:rPr>
                        </m:ctrlPr>
                      </m:sSubPr>
                      <m:e>
                        <m:acc>
                          <m:accPr>
                            <m:chr m:val="̇"/>
                            <m:ctrlPr>
                              <a:rPr lang="el-GR" sz="2400" i="1" dirty="0" smtClean="0">
                                <a:latin typeface="Cambria Math" panose="02040503050406030204" pitchFamily="18" charset="0"/>
                              </a:rPr>
                            </m:ctrlPr>
                          </m:accPr>
                          <m:e>
                            <m:r>
                              <a:rPr lang="el-GR" sz="2400" i="1" dirty="0" smtClean="0">
                                <a:latin typeface="Cambria Math" panose="02040503050406030204" pitchFamily="18" charset="0"/>
                                <a:ea typeface="Cambria Math" panose="02040503050406030204" pitchFamily="18" charset="0"/>
                              </a:rPr>
                              <m:t>𝜃</m:t>
                            </m:r>
                          </m:e>
                        </m:acc>
                      </m:e>
                      <m:sub>
                        <m:r>
                          <a:rPr lang="en-IN" sz="2400" b="0" i="1" dirty="0" smtClean="0">
                            <a:latin typeface="Cambria Math" panose="02040503050406030204" pitchFamily="18" charset="0"/>
                          </a:rPr>
                          <m:t>2</m:t>
                        </m:r>
                      </m:sub>
                    </m:sSub>
                  </m:oMath>
                </a14:m>
                <a:r>
                  <a:rPr lang="el-GR" sz="2400" dirty="0"/>
                  <a:t> ]</a:t>
                </a:r>
                <a:r>
                  <a:rPr lang="en-IN" sz="2400" dirty="0"/>
                  <a:t>ᵀ</a:t>
                </a:r>
                <a:br>
                  <a:rPr lang="en-IN" sz="2400" dirty="0"/>
                </a:br>
                <a:r>
                  <a:rPr lang="en-IN" sz="2400" dirty="0"/>
                  <a:t>Input vector:</a:t>
                </a:r>
                <a:br>
                  <a:rPr lang="en-IN" sz="2400" dirty="0"/>
                </a:br>
                <a:r>
                  <a:rPr lang="en-IN" sz="2400" dirty="0"/>
                  <a:t>u = [ </a:t>
                </a:r>
                <a:r>
                  <a:rPr lang="el-GR" sz="2400" dirty="0"/>
                  <a:t>τ₁ τ₂ ]</a:t>
                </a:r>
                <a:r>
                  <a:rPr lang="en-IN" sz="2400" dirty="0"/>
                  <a:t>ᵀ</a:t>
                </a:r>
              </a:p>
              <a:p>
                <a:pPr marL="0" indent="0">
                  <a:buNone/>
                </a:pPr>
                <a:endParaRPr lang="en-IN" sz="2400" dirty="0"/>
              </a:p>
            </p:txBody>
          </p:sp>
        </mc:Choice>
        <mc:Fallback xmlns="">
          <p:sp>
            <p:nvSpPr>
              <p:cNvPr id="3" name="Content Placeholder 2">
                <a:extLst>
                  <a:ext uri="{FF2B5EF4-FFF2-40B4-BE49-F238E27FC236}">
                    <a16:creationId xmlns:a16="http://schemas.microsoft.com/office/drawing/2014/main" id="{2F7B2EE0-CB4D-A44E-944F-914A84575ABE}"/>
                  </a:ext>
                </a:extLst>
              </p:cNvPr>
              <p:cNvSpPr>
                <a:spLocks noGrp="1" noRot="1" noChangeAspect="1" noMove="1" noResize="1" noEditPoints="1" noAdjustHandles="1" noChangeArrowheads="1" noChangeShapeType="1" noTextEdit="1"/>
              </p:cNvSpPr>
              <p:nvPr>
                <p:ph idx="1"/>
              </p:nvPr>
            </p:nvSpPr>
            <p:spPr>
              <a:xfrm>
                <a:off x="690714" y="1248236"/>
                <a:ext cx="5228305" cy="4179170"/>
              </a:xfrm>
              <a:blipFill>
                <a:blip r:embed="rId2"/>
                <a:stretch>
                  <a:fillRect l="-1515" t="-2044" r="-104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058291B8-8BD5-3D7C-16B7-4119E3069E44}"/>
                  </a:ext>
                </a:extLst>
              </p:cNvPr>
              <p:cNvSpPr txBox="1">
                <a:spLocks/>
              </p:cNvSpPr>
              <p:nvPr/>
            </p:nvSpPr>
            <p:spPr>
              <a:xfrm>
                <a:off x="5919019" y="1238173"/>
                <a:ext cx="5791199" cy="21832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t>Step 2: Choose the Equilibrium Point</a:t>
                </a:r>
                <a:br>
                  <a:rPr lang="en-US" sz="2400" dirty="0"/>
                </a:br>
                <a:r>
                  <a:rPr lang="en-US" sz="2400" dirty="0"/>
                  <a:t>Linearization is done around a steady-state operating point:</a:t>
                </a:r>
                <a:br>
                  <a:rPr lang="en-US" sz="2400" dirty="0"/>
                </a:br>
                <a14:m>
                  <m:oMath xmlns:m="http://schemas.openxmlformats.org/officeDocument/2006/math">
                    <m:acc>
                      <m:accPr>
                        <m:chr m:val="̇"/>
                        <m:ctrlPr>
                          <a:rPr lang="en-US" sz="2400" i="1" smtClean="0">
                            <a:latin typeface="Cambria Math" panose="02040503050406030204" pitchFamily="18" charset="0"/>
                          </a:rPr>
                        </m:ctrlPr>
                      </m:accPr>
                      <m:e>
                        <m:r>
                          <a:rPr lang="en-US" sz="2400" i="1" smtClean="0">
                            <a:latin typeface="Cambria Math" panose="02040503050406030204" pitchFamily="18" charset="0"/>
                            <a:ea typeface="Cambria Math" panose="02040503050406030204" pitchFamily="18" charset="0"/>
                          </a:rPr>
                          <m:t>𝜃</m:t>
                        </m:r>
                      </m:e>
                    </m:acc>
                  </m:oMath>
                </a14:m>
                <a:r>
                  <a:rPr lang="en-US" sz="2400" dirty="0"/>
                  <a:t>̇ = 0 , </a:t>
                </a:r>
                <a14:m>
                  <m:oMath xmlns:m="http://schemas.openxmlformats.org/officeDocument/2006/math">
                    <m:acc>
                      <m:accPr>
                        <m:chr m:val="̈"/>
                        <m:ctrlPr>
                          <a:rPr lang="en-US" sz="2400" i="1" dirty="0" smtClean="0">
                            <a:latin typeface="Cambria Math" panose="02040503050406030204" pitchFamily="18" charset="0"/>
                          </a:rPr>
                        </m:ctrlPr>
                      </m:accPr>
                      <m:e>
                        <m:r>
                          <a:rPr lang="en-US" sz="2400" i="1" dirty="0" smtClean="0">
                            <a:latin typeface="Cambria Math" panose="02040503050406030204" pitchFamily="18" charset="0"/>
                            <a:ea typeface="Cambria Math" panose="02040503050406030204" pitchFamily="18" charset="0"/>
                          </a:rPr>
                          <m:t>𝜃</m:t>
                        </m:r>
                      </m:e>
                    </m:acc>
                    <m:r>
                      <a:rPr lang="en-US" sz="2400" i="1" dirty="0" smtClean="0">
                        <a:latin typeface="Cambria Math" panose="02040503050406030204" pitchFamily="18" charset="0"/>
                      </a:rPr>
                      <m:t> </m:t>
                    </m:r>
                  </m:oMath>
                </a14:m>
                <a:r>
                  <a:rPr lang="en-US" sz="2400" dirty="0"/>
                  <a:t>= 0 , τ = g(θ₀)</a:t>
                </a:r>
                <a:br>
                  <a:rPr lang="en-US" sz="2400" dirty="0"/>
                </a:br>
                <a:r>
                  <a:rPr lang="en-US" sz="2400" dirty="0"/>
                  <a:t>At equilibrium:</a:t>
                </a:r>
                <a:br>
                  <a:rPr lang="en-US" sz="2400" dirty="0"/>
                </a:br>
                <a:r>
                  <a:rPr lang="en-US" sz="2400" dirty="0"/>
                  <a:t>ẋ = f(x₀, u₀)</a:t>
                </a:r>
                <a:endParaRPr lang="en-IN" sz="2400" dirty="0"/>
              </a:p>
            </p:txBody>
          </p:sp>
        </mc:Choice>
        <mc:Fallback xmlns="">
          <p:sp>
            <p:nvSpPr>
              <p:cNvPr id="4" name="Content Placeholder 2">
                <a:extLst>
                  <a:ext uri="{FF2B5EF4-FFF2-40B4-BE49-F238E27FC236}">
                    <a16:creationId xmlns:a16="http://schemas.microsoft.com/office/drawing/2014/main" id="{058291B8-8BD5-3D7C-16B7-4119E3069E44}"/>
                  </a:ext>
                </a:extLst>
              </p:cNvPr>
              <p:cNvSpPr txBox="1">
                <a:spLocks noRot="1" noChangeAspect="1" noMove="1" noResize="1" noEditPoints="1" noAdjustHandles="1" noChangeArrowheads="1" noChangeShapeType="1" noTextEdit="1"/>
              </p:cNvSpPr>
              <p:nvPr/>
            </p:nvSpPr>
            <p:spPr>
              <a:xfrm>
                <a:off x="5919019" y="1238173"/>
                <a:ext cx="5791199" cy="2183222"/>
              </a:xfrm>
              <a:prstGeom prst="rect">
                <a:avLst/>
              </a:prstGeom>
              <a:blipFill>
                <a:blip r:embed="rId3"/>
                <a:stretch>
                  <a:fillRect l="-1474" t="-3911" r="-1895" b="-1676"/>
                </a:stretch>
              </a:blipFill>
            </p:spPr>
            <p:txBody>
              <a:bodyPr/>
              <a:lstStyle/>
              <a:p>
                <a:r>
                  <a:rPr lang="en-IN">
                    <a:noFill/>
                  </a:rPr>
                  <a:t> </a:t>
                </a:r>
              </a:p>
            </p:txBody>
          </p:sp>
        </mc:Fallback>
      </mc:AlternateContent>
      <p:pic>
        <p:nvPicPr>
          <p:cNvPr id="7" name="Picture 6">
            <a:extLst>
              <a:ext uri="{FF2B5EF4-FFF2-40B4-BE49-F238E27FC236}">
                <a16:creationId xmlns:a16="http://schemas.microsoft.com/office/drawing/2014/main" id="{47CDAF5F-4FF0-7679-7467-3CF6D9ABADE8}"/>
              </a:ext>
            </a:extLst>
          </p:cNvPr>
          <p:cNvPicPr>
            <a:picLocks noChangeAspect="1"/>
          </p:cNvPicPr>
          <p:nvPr/>
        </p:nvPicPr>
        <p:blipFill>
          <a:blip r:embed="rId4"/>
          <a:stretch>
            <a:fillRect/>
          </a:stretch>
        </p:blipFill>
        <p:spPr>
          <a:xfrm>
            <a:off x="838200" y="4128972"/>
            <a:ext cx="4540714" cy="2045686"/>
          </a:xfrm>
          <a:prstGeom prst="rect">
            <a:avLst/>
          </a:prstGeom>
        </p:spPr>
      </p:pic>
    </p:spTree>
    <p:extLst>
      <p:ext uri="{BB962C8B-B14F-4D97-AF65-F5344CB8AC3E}">
        <p14:creationId xmlns:p14="http://schemas.microsoft.com/office/powerpoint/2010/main" val="2191679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670AAE3-C1A5-EDCB-E543-D6EE6FD0671C}"/>
              </a:ext>
            </a:extLst>
          </p:cNvPr>
          <p:cNvSpPr txBox="1">
            <a:spLocks/>
          </p:cNvSpPr>
          <p:nvPr/>
        </p:nvSpPr>
        <p:spPr>
          <a:xfrm>
            <a:off x="969705" y="481780"/>
            <a:ext cx="4329882" cy="18484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000" b="1" dirty="0"/>
              <a:t>Step 3: Compute Jacobians</a:t>
            </a:r>
            <a:br>
              <a:rPr lang="en-IN" sz="2000" dirty="0"/>
            </a:br>
            <a:r>
              <a:rPr lang="en-IN" sz="2000" dirty="0"/>
              <a:t>We compute partial derivatives of f(</a:t>
            </a:r>
            <a:r>
              <a:rPr lang="en-IN" sz="2000" dirty="0" err="1"/>
              <a:t>x,u</a:t>
            </a:r>
            <a:r>
              <a:rPr lang="en-IN" sz="2000" dirty="0"/>
              <a:t>) at the equilibrium point to form:</a:t>
            </a:r>
            <a:br>
              <a:rPr lang="en-IN" sz="2000" dirty="0"/>
            </a:br>
            <a:r>
              <a:rPr lang="en-IN" sz="2000" dirty="0"/>
              <a:t>A = ∂f/∂x |₍ₓ₀,ᵤ₀₎</a:t>
            </a:r>
            <a:br>
              <a:rPr lang="en-IN" sz="2000" dirty="0"/>
            </a:br>
            <a:r>
              <a:rPr lang="en-IN" sz="2000" dirty="0"/>
              <a:t>B = ∂f/∂u |₍ₓ₀,ᵤ₀₎</a:t>
            </a:r>
          </a:p>
        </p:txBody>
      </p:sp>
      <p:sp>
        <p:nvSpPr>
          <p:cNvPr id="6" name="Content Placeholder 5">
            <a:extLst>
              <a:ext uri="{FF2B5EF4-FFF2-40B4-BE49-F238E27FC236}">
                <a16:creationId xmlns:a16="http://schemas.microsoft.com/office/drawing/2014/main" id="{7381804E-53C8-A729-9E6B-3B0A8EE99076}"/>
              </a:ext>
            </a:extLst>
          </p:cNvPr>
          <p:cNvSpPr>
            <a:spLocks noGrp="1"/>
          </p:cNvSpPr>
          <p:nvPr>
            <p:ph idx="1"/>
          </p:nvPr>
        </p:nvSpPr>
        <p:spPr>
          <a:xfrm>
            <a:off x="6744929" y="481780"/>
            <a:ext cx="4611329" cy="4351338"/>
          </a:xfrm>
        </p:spPr>
        <p:txBody>
          <a:bodyPr/>
          <a:lstStyle/>
          <a:p>
            <a:r>
              <a:rPr lang="en-US" sz="2400" b="1" dirty="0"/>
              <a:t>Linear State-Space Model</a:t>
            </a:r>
            <a:br>
              <a:rPr lang="en-US" sz="2400" dirty="0"/>
            </a:br>
            <a:r>
              <a:rPr lang="en-US" sz="2400" dirty="0"/>
              <a:t>ẋ = A x + B u</a:t>
            </a:r>
            <a:br>
              <a:rPr lang="en-US" sz="2400" dirty="0"/>
            </a:br>
            <a:r>
              <a:rPr lang="en-US" sz="2400" dirty="0"/>
              <a:t>y = C x + D u</a:t>
            </a:r>
          </a:p>
          <a:p>
            <a:r>
              <a:rPr lang="en-US" sz="2400" dirty="0"/>
              <a:t>This gives a linear approximation of the nonlinear arm dynamics, which can be used to design controllers like PID, LQR, and state feedback.</a:t>
            </a:r>
          </a:p>
          <a:p>
            <a:endParaRPr lang="en-IN" dirty="0"/>
          </a:p>
        </p:txBody>
      </p:sp>
      <p:pic>
        <p:nvPicPr>
          <p:cNvPr id="8" name="Picture 7">
            <a:extLst>
              <a:ext uri="{FF2B5EF4-FFF2-40B4-BE49-F238E27FC236}">
                <a16:creationId xmlns:a16="http://schemas.microsoft.com/office/drawing/2014/main" id="{B0DAEDE3-8165-ED53-AA76-EFAF6931146E}"/>
              </a:ext>
            </a:extLst>
          </p:cNvPr>
          <p:cNvPicPr>
            <a:picLocks noChangeAspect="1"/>
          </p:cNvPicPr>
          <p:nvPr/>
        </p:nvPicPr>
        <p:blipFill>
          <a:blip r:embed="rId2"/>
          <a:stretch>
            <a:fillRect/>
          </a:stretch>
        </p:blipFill>
        <p:spPr>
          <a:xfrm>
            <a:off x="1162490" y="2234387"/>
            <a:ext cx="4284582" cy="2205610"/>
          </a:xfrm>
          <a:prstGeom prst="rect">
            <a:avLst/>
          </a:prstGeom>
        </p:spPr>
      </p:pic>
      <p:pic>
        <p:nvPicPr>
          <p:cNvPr id="10" name="Picture 9">
            <a:extLst>
              <a:ext uri="{FF2B5EF4-FFF2-40B4-BE49-F238E27FC236}">
                <a16:creationId xmlns:a16="http://schemas.microsoft.com/office/drawing/2014/main" id="{220CDA50-6C06-516A-F8CB-FE11D47A8D69}"/>
              </a:ext>
            </a:extLst>
          </p:cNvPr>
          <p:cNvPicPr>
            <a:picLocks noChangeAspect="1"/>
          </p:cNvPicPr>
          <p:nvPr/>
        </p:nvPicPr>
        <p:blipFill>
          <a:blip r:embed="rId3"/>
          <a:stretch>
            <a:fillRect/>
          </a:stretch>
        </p:blipFill>
        <p:spPr>
          <a:xfrm>
            <a:off x="1162490" y="4545029"/>
            <a:ext cx="2193470" cy="1443660"/>
          </a:xfrm>
          <a:prstGeom prst="rect">
            <a:avLst/>
          </a:prstGeom>
        </p:spPr>
      </p:pic>
    </p:spTree>
    <p:extLst>
      <p:ext uri="{BB962C8B-B14F-4D97-AF65-F5344CB8AC3E}">
        <p14:creationId xmlns:p14="http://schemas.microsoft.com/office/powerpoint/2010/main" val="2518901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E89F9-5062-9170-E3B5-FEB15EA641D3}"/>
              </a:ext>
            </a:extLst>
          </p:cNvPr>
          <p:cNvSpPr>
            <a:spLocks noGrp="1"/>
          </p:cNvSpPr>
          <p:nvPr>
            <p:ph type="title"/>
          </p:nvPr>
        </p:nvSpPr>
        <p:spPr/>
        <p:txBody>
          <a:bodyPr/>
          <a:lstStyle/>
          <a:p>
            <a:r>
              <a:rPr lang="en-IN" dirty="0"/>
              <a:t>Parameters used</a:t>
            </a:r>
          </a:p>
        </p:txBody>
      </p:sp>
      <p:pic>
        <p:nvPicPr>
          <p:cNvPr id="5" name="Content Placeholder 4">
            <a:extLst>
              <a:ext uri="{FF2B5EF4-FFF2-40B4-BE49-F238E27FC236}">
                <a16:creationId xmlns:a16="http://schemas.microsoft.com/office/drawing/2014/main" id="{7BACBCD3-284A-6E85-F45F-96C7C4477EE3}"/>
              </a:ext>
            </a:extLst>
          </p:cNvPr>
          <p:cNvPicPr>
            <a:picLocks noGrp="1" noChangeAspect="1"/>
          </p:cNvPicPr>
          <p:nvPr>
            <p:ph idx="1"/>
          </p:nvPr>
        </p:nvPicPr>
        <p:blipFill>
          <a:blip r:embed="rId2"/>
          <a:stretch>
            <a:fillRect/>
          </a:stretch>
        </p:blipFill>
        <p:spPr>
          <a:xfrm>
            <a:off x="814637" y="1550096"/>
            <a:ext cx="10562725" cy="4142782"/>
          </a:xfrm>
          <a:prstGeom prst="rect">
            <a:avLst/>
          </a:prstGeom>
        </p:spPr>
      </p:pic>
    </p:spTree>
    <p:extLst>
      <p:ext uri="{BB962C8B-B14F-4D97-AF65-F5344CB8AC3E}">
        <p14:creationId xmlns:p14="http://schemas.microsoft.com/office/powerpoint/2010/main" val="611477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5800A-5B2D-D965-6E98-CFBAF6AC82FA}"/>
              </a:ext>
            </a:extLst>
          </p:cNvPr>
          <p:cNvSpPr>
            <a:spLocks noGrp="1"/>
          </p:cNvSpPr>
          <p:nvPr>
            <p:ph type="title"/>
          </p:nvPr>
        </p:nvSpPr>
        <p:spPr/>
        <p:txBody>
          <a:bodyPr/>
          <a:lstStyle/>
          <a:p>
            <a:r>
              <a:rPr lang="en-IN" dirty="0"/>
              <a:t>Solutions of the State-Space Equation</a:t>
            </a:r>
          </a:p>
        </p:txBody>
      </p:sp>
      <p:pic>
        <p:nvPicPr>
          <p:cNvPr id="5" name="Content Placeholder 4">
            <a:extLst>
              <a:ext uri="{FF2B5EF4-FFF2-40B4-BE49-F238E27FC236}">
                <a16:creationId xmlns:a16="http://schemas.microsoft.com/office/drawing/2014/main" id="{2186588C-7FEE-A187-855B-FCE421F89392}"/>
              </a:ext>
            </a:extLst>
          </p:cNvPr>
          <p:cNvPicPr>
            <a:picLocks noGrp="1" noChangeAspect="1"/>
          </p:cNvPicPr>
          <p:nvPr>
            <p:ph idx="1"/>
          </p:nvPr>
        </p:nvPicPr>
        <p:blipFill>
          <a:blip r:embed="rId2"/>
          <a:stretch>
            <a:fillRect/>
          </a:stretch>
        </p:blipFill>
        <p:spPr>
          <a:xfrm>
            <a:off x="1189703" y="2870455"/>
            <a:ext cx="6773059" cy="1986511"/>
          </a:xfrm>
          <a:prstGeom prst="rect">
            <a:avLst/>
          </a:prstGeom>
        </p:spPr>
      </p:pic>
      <p:sp>
        <p:nvSpPr>
          <p:cNvPr id="8" name="TextBox 7">
            <a:extLst>
              <a:ext uri="{FF2B5EF4-FFF2-40B4-BE49-F238E27FC236}">
                <a16:creationId xmlns:a16="http://schemas.microsoft.com/office/drawing/2014/main" id="{03928614-3929-DD3A-0F8A-91EACD782DD7}"/>
              </a:ext>
            </a:extLst>
          </p:cNvPr>
          <p:cNvSpPr txBox="1"/>
          <p:nvPr/>
        </p:nvSpPr>
        <p:spPr>
          <a:xfrm>
            <a:off x="1189703" y="1690688"/>
            <a:ext cx="7266039" cy="830997"/>
          </a:xfrm>
          <a:prstGeom prst="rect">
            <a:avLst/>
          </a:prstGeom>
          <a:noFill/>
        </p:spPr>
        <p:txBody>
          <a:bodyPr wrap="square" rtlCol="0">
            <a:spAutoFit/>
          </a:bodyPr>
          <a:lstStyle/>
          <a:p>
            <a:r>
              <a:rPr lang="en-US" sz="2400" dirty="0"/>
              <a:t>After performing calculations, we obtain the following values of A, B, C, D:</a:t>
            </a:r>
            <a:endParaRPr lang="en-IN" sz="2400" dirty="0"/>
          </a:p>
        </p:txBody>
      </p:sp>
    </p:spTree>
    <p:extLst>
      <p:ext uri="{BB962C8B-B14F-4D97-AF65-F5344CB8AC3E}">
        <p14:creationId xmlns:p14="http://schemas.microsoft.com/office/powerpoint/2010/main" val="3958033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69010-A114-BC71-8B20-EBC41B51436D}"/>
              </a:ext>
            </a:extLst>
          </p:cNvPr>
          <p:cNvSpPr>
            <a:spLocks noGrp="1"/>
          </p:cNvSpPr>
          <p:nvPr>
            <p:ph type="title"/>
          </p:nvPr>
        </p:nvSpPr>
        <p:spPr>
          <a:xfrm>
            <a:off x="714798" y="483731"/>
            <a:ext cx="10515600" cy="1325563"/>
          </a:xfrm>
        </p:spPr>
        <p:txBody>
          <a:bodyPr/>
          <a:lstStyle/>
          <a:p>
            <a:r>
              <a:rPr lang="en-IN" dirty="0"/>
              <a:t>Transfer Functions</a:t>
            </a:r>
          </a:p>
        </p:txBody>
      </p:sp>
      <p:sp>
        <p:nvSpPr>
          <p:cNvPr id="4" name="TextBox 3">
            <a:extLst>
              <a:ext uri="{FF2B5EF4-FFF2-40B4-BE49-F238E27FC236}">
                <a16:creationId xmlns:a16="http://schemas.microsoft.com/office/drawing/2014/main" id="{2A5BCB38-ADC5-1018-91BA-681BA8A22661}"/>
              </a:ext>
            </a:extLst>
          </p:cNvPr>
          <p:cNvSpPr txBox="1"/>
          <p:nvPr/>
        </p:nvSpPr>
        <p:spPr>
          <a:xfrm>
            <a:off x="714798" y="1689356"/>
            <a:ext cx="4742106" cy="830997"/>
          </a:xfrm>
          <a:prstGeom prst="rect">
            <a:avLst/>
          </a:prstGeom>
          <a:noFill/>
        </p:spPr>
        <p:txBody>
          <a:bodyPr wrap="square" rtlCol="0">
            <a:spAutoFit/>
          </a:bodyPr>
          <a:lstStyle/>
          <a:p>
            <a:r>
              <a:rPr lang="en-IN" sz="2400" dirty="0"/>
              <a:t>Transfer Functions H(s) can be found by using the formula:</a:t>
            </a:r>
          </a:p>
        </p:txBody>
      </p:sp>
      <p:pic>
        <p:nvPicPr>
          <p:cNvPr id="12" name="Content Placeholder 6">
            <a:extLst>
              <a:ext uri="{FF2B5EF4-FFF2-40B4-BE49-F238E27FC236}">
                <a16:creationId xmlns:a16="http://schemas.microsoft.com/office/drawing/2014/main" id="{025B9841-222D-D9B5-1B33-E46A55E5669B}"/>
              </a:ext>
            </a:extLst>
          </p:cNvPr>
          <p:cNvPicPr>
            <a:picLocks noChangeAspect="1"/>
          </p:cNvPicPr>
          <p:nvPr/>
        </p:nvPicPr>
        <p:blipFill>
          <a:blip r:embed="rId2"/>
          <a:stretch>
            <a:fillRect/>
          </a:stretch>
        </p:blipFill>
        <p:spPr>
          <a:xfrm>
            <a:off x="5715480" y="1105551"/>
            <a:ext cx="5256342" cy="4351338"/>
          </a:xfrm>
          <a:prstGeom prst="rect">
            <a:avLst/>
          </a:prstGeom>
        </p:spPr>
      </p:pic>
      <p:pic>
        <p:nvPicPr>
          <p:cNvPr id="14" name="Picture 13">
            <a:extLst>
              <a:ext uri="{FF2B5EF4-FFF2-40B4-BE49-F238E27FC236}">
                <a16:creationId xmlns:a16="http://schemas.microsoft.com/office/drawing/2014/main" id="{27AC7F22-74DA-73A4-DECD-9F8C41D244CD}"/>
              </a:ext>
            </a:extLst>
          </p:cNvPr>
          <p:cNvPicPr>
            <a:picLocks noChangeAspect="1"/>
          </p:cNvPicPr>
          <p:nvPr/>
        </p:nvPicPr>
        <p:blipFill>
          <a:blip r:embed="rId3"/>
          <a:stretch>
            <a:fillRect/>
          </a:stretch>
        </p:blipFill>
        <p:spPr>
          <a:xfrm>
            <a:off x="1109654" y="3387793"/>
            <a:ext cx="3791479" cy="676369"/>
          </a:xfrm>
          <a:prstGeom prst="rect">
            <a:avLst/>
          </a:prstGeom>
        </p:spPr>
      </p:pic>
      <p:pic>
        <p:nvPicPr>
          <p:cNvPr id="18" name="Picture 17">
            <a:extLst>
              <a:ext uri="{FF2B5EF4-FFF2-40B4-BE49-F238E27FC236}">
                <a16:creationId xmlns:a16="http://schemas.microsoft.com/office/drawing/2014/main" id="{03162D0C-E9DB-CB10-9693-91A35D78A05D}"/>
              </a:ext>
            </a:extLst>
          </p:cNvPr>
          <p:cNvPicPr>
            <a:picLocks noChangeAspect="1"/>
          </p:cNvPicPr>
          <p:nvPr/>
        </p:nvPicPr>
        <p:blipFill>
          <a:blip r:embed="rId4"/>
          <a:stretch>
            <a:fillRect/>
          </a:stretch>
        </p:blipFill>
        <p:spPr>
          <a:xfrm>
            <a:off x="1019153" y="4388451"/>
            <a:ext cx="3972479" cy="323895"/>
          </a:xfrm>
          <a:prstGeom prst="rect">
            <a:avLst/>
          </a:prstGeom>
        </p:spPr>
      </p:pic>
      <p:pic>
        <p:nvPicPr>
          <p:cNvPr id="20" name="Picture 19">
            <a:extLst>
              <a:ext uri="{FF2B5EF4-FFF2-40B4-BE49-F238E27FC236}">
                <a16:creationId xmlns:a16="http://schemas.microsoft.com/office/drawing/2014/main" id="{5E9AEFAA-E52D-D193-B858-EE6AE902FED9}"/>
              </a:ext>
            </a:extLst>
          </p:cNvPr>
          <p:cNvPicPr>
            <a:picLocks noChangeAspect="1"/>
          </p:cNvPicPr>
          <p:nvPr/>
        </p:nvPicPr>
        <p:blipFill>
          <a:blip r:embed="rId5"/>
          <a:stretch>
            <a:fillRect/>
          </a:stretch>
        </p:blipFill>
        <p:spPr>
          <a:xfrm>
            <a:off x="1104374" y="4879450"/>
            <a:ext cx="3962953" cy="314369"/>
          </a:xfrm>
          <a:prstGeom prst="rect">
            <a:avLst/>
          </a:prstGeom>
        </p:spPr>
      </p:pic>
      <p:pic>
        <p:nvPicPr>
          <p:cNvPr id="5" name="Picture 4">
            <a:extLst>
              <a:ext uri="{FF2B5EF4-FFF2-40B4-BE49-F238E27FC236}">
                <a16:creationId xmlns:a16="http://schemas.microsoft.com/office/drawing/2014/main" id="{5D080F0A-713D-B36C-25C2-920B6494BE6A}"/>
              </a:ext>
            </a:extLst>
          </p:cNvPr>
          <p:cNvPicPr>
            <a:picLocks noChangeAspect="1"/>
          </p:cNvPicPr>
          <p:nvPr/>
        </p:nvPicPr>
        <p:blipFill>
          <a:blip r:embed="rId6"/>
          <a:stretch>
            <a:fillRect/>
          </a:stretch>
        </p:blipFill>
        <p:spPr>
          <a:xfrm>
            <a:off x="1220178" y="2734035"/>
            <a:ext cx="3376308" cy="381196"/>
          </a:xfrm>
          <a:prstGeom prst="rect">
            <a:avLst/>
          </a:prstGeom>
        </p:spPr>
      </p:pic>
    </p:spTree>
    <p:extLst>
      <p:ext uri="{BB962C8B-B14F-4D97-AF65-F5344CB8AC3E}">
        <p14:creationId xmlns:p14="http://schemas.microsoft.com/office/powerpoint/2010/main" val="2243871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95427-EE47-D0F1-0BC0-4F50C42F50FC}"/>
              </a:ext>
            </a:extLst>
          </p:cNvPr>
          <p:cNvSpPr>
            <a:spLocks noGrp="1"/>
          </p:cNvSpPr>
          <p:nvPr>
            <p:ph type="title"/>
          </p:nvPr>
        </p:nvSpPr>
        <p:spPr/>
        <p:txBody>
          <a:bodyPr/>
          <a:lstStyle/>
          <a:p>
            <a:r>
              <a:rPr lang="en-IN" dirty="0"/>
              <a:t>Block Diagrams using the Transfer functions</a:t>
            </a:r>
          </a:p>
        </p:txBody>
      </p:sp>
      <p:pic>
        <p:nvPicPr>
          <p:cNvPr id="5" name="Content Placeholder 4">
            <a:extLst>
              <a:ext uri="{FF2B5EF4-FFF2-40B4-BE49-F238E27FC236}">
                <a16:creationId xmlns:a16="http://schemas.microsoft.com/office/drawing/2014/main" id="{EB5ED5A4-56EC-CDD4-7358-D55E7320FEAE}"/>
              </a:ext>
            </a:extLst>
          </p:cNvPr>
          <p:cNvPicPr>
            <a:picLocks noGrp="1" noChangeAspect="1"/>
          </p:cNvPicPr>
          <p:nvPr>
            <p:ph idx="1"/>
          </p:nvPr>
        </p:nvPicPr>
        <p:blipFill>
          <a:blip r:embed="rId2"/>
          <a:stretch>
            <a:fillRect/>
          </a:stretch>
        </p:blipFill>
        <p:spPr>
          <a:xfrm>
            <a:off x="2210801" y="1602198"/>
            <a:ext cx="7770397" cy="4163477"/>
          </a:xfrm>
          <a:prstGeom prst="rect">
            <a:avLst/>
          </a:prstGeom>
        </p:spPr>
      </p:pic>
    </p:spTree>
    <p:extLst>
      <p:ext uri="{BB962C8B-B14F-4D97-AF65-F5344CB8AC3E}">
        <p14:creationId xmlns:p14="http://schemas.microsoft.com/office/powerpoint/2010/main" val="4086780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65AF4-CBD6-398D-9A5E-7295456AAE0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B368221-C9DA-EE4E-E6E4-D3F595770AF2}"/>
              </a:ext>
            </a:extLst>
          </p:cNvPr>
          <p:cNvSpPr>
            <a:spLocks noGrp="1"/>
          </p:cNvSpPr>
          <p:nvPr>
            <p:ph idx="1"/>
          </p:nvPr>
        </p:nvSpPr>
        <p:spPr/>
        <p:txBody>
          <a:bodyPr/>
          <a:lstStyle/>
          <a:p>
            <a:endParaRPr lang="en-IN"/>
          </a:p>
        </p:txBody>
      </p:sp>
      <p:pic>
        <p:nvPicPr>
          <p:cNvPr id="4" name="Picture 3" descr="A white background with black lines&#10;&#10;AI-generated content may be incorrect.">
            <a:extLst>
              <a:ext uri="{FF2B5EF4-FFF2-40B4-BE49-F238E27FC236}">
                <a16:creationId xmlns:a16="http://schemas.microsoft.com/office/drawing/2014/main" id="{C9597B1F-A0E6-69E0-40DF-443C511D998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8384" y="196645"/>
            <a:ext cx="11393177" cy="6296230"/>
          </a:xfrm>
          <a:prstGeom prst="rect">
            <a:avLst/>
          </a:prstGeom>
          <a:noFill/>
          <a:ln>
            <a:noFill/>
          </a:ln>
        </p:spPr>
      </p:pic>
    </p:spTree>
    <p:extLst>
      <p:ext uri="{BB962C8B-B14F-4D97-AF65-F5344CB8AC3E}">
        <p14:creationId xmlns:p14="http://schemas.microsoft.com/office/powerpoint/2010/main" val="954948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427CA-DF76-8AA8-214C-1EEC506C3C3C}"/>
              </a:ext>
            </a:extLst>
          </p:cNvPr>
          <p:cNvSpPr>
            <a:spLocks noGrp="1"/>
          </p:cNvSpPr>
          <p:nvPr>
            <p:ph type="title"/>
          </p:nvPr>
        </p:nvSpPr>
        <p:spPr>
          <a:xfrm>
            <a:off x="684569" y="1678861"/>
            <a:ext cx="10593030" cy="732775"/>
          </a:xfrm>
        </p:spPr>
        <p:txBody>
          <a:bodyPr>
            <a:normAutofit fontScale="90000"/>
          </a:bodyPr>
          <a:lstStyle/>
          <a:p>
            <a:r>
              <a:rPr lang="en-IN" sz="2400" dirty="0"/>
              <a:t>Comparison of desired and actual trajectories before PID tuning and before angle wrapping.</a:t>
            </a:r>
          </a:p>
        </p:txBody>
      </p:sp>
      <p:pic>
        <p:nvPicPr>
          <p:cNvPr id="5" name="Picture 4">
            <a:extLst>
              <a:ext uri="{FF2B5EF4-FFF2-40B4-BE49-F238E27FC236}">
                <a16:creationId xmlns:a16="http://schemas.microsoft.com/office/drawing/2014/main" id="{FEACE703-C302-8B23-58E6-D29A46CD9AC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1057" y="2689672"/>
            <a:ext cx="4622796" cy="3239179"/>
          </a:xfrm>
          <a:prstGeom prst="rect">
            <a:avLst/>
          </a:prstGeom>
          <a:noFill/>
          <a:ln>
            <a:noFill/>
          </a:ln>
        </p:spPr>
      </p:pic>
      <p:pic>
        <p:nvPicPr>
          <p:cNvPr id="6" name="Picture 5">
            <a:extLst>
              <a:ext uri="{FF2B5EF4-FFF2-40B4-BE49-F238E27FC236}">
                <a16:creationId xmlns:a16="http://schemas.microsoft.com/office/drawing/2014/main" id="{588D30F7-5732-9BA4-518A-44A461F7865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28380" y="2689672"/>
            <a:ext cx="7083737" cy="3170353"/>
          </a:xfrm>
          <a:prstGeom prst="rect">
            <a:avLst/>
          </a:prstGeom>
          <a:noFill/>
          <a:ln>
            <a:noFill/>
          </a:ln>
        </p:spPr>
      </p:pic>
      <p:sp>
        <p:nvSpPr>
          <p:cNvPr id="7" name="Title 1">
            <a:extLst>
              <a:ext uri="{FF2B5EF4-FFF2-40B4-BE49-F238E27FC236}">
                <a16:creationId xmlns:a16="http://schemas.microsoft.com/office/drawing/2014/main" id="{DF42E9E8-F7E6-F471-4B45-794A7154F3D0}"/>
              </a:ext>
            </a:extLst>
          </p:cNvPr>
          <p:cNvSpPr txBox="1">
            <a:spLocks/>
          </p:cNvSpPr>
          <p:nvPr/>
        </p:nvSpPr>
        <p:spPr>
          <a:xfrm>
            <a:off x="1229030" y="786310"/>
            <a:ext cx="8674511" cy="6145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Results and Discussion:</a:t>
            </a:r>
          </a:p>
        </p:txBody>
      </p:sp>
    </p:spTree>
    <p:extLst>
      <p:ext uri="{BB962C8B-B14F-4D97-AF65-F5344CB8AC3E}">
        <p14:creationId xmlns:p14="http://schemas.microsoft.com/office/powerpoint/2010/main" val="23089064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A3F4A-B21E-7243-7117-4A99D46B71BC}"/>
              </a:ext>
            </a:extLst>
          </p:cNvPr>
          <p:cNvSpPr>
            <a:spLocks noGrp="1"/>
          </p:cNvSpPr>
          <p:nvPr>
            <p:ph type="title"/>
          </p:nvPr>
        </p:nvSpPr>
        <p:spPr>
          <a:xfrm>
            <a:off x="1014129" y="511278"/>
            <a:ext cx="9593826" cy="884904"/>
          </a:xfrm>
        </p:spPr>
        <p:txBody>
          <a:bodyPr>
            <a:normAutofit fontScale="90000"/>
          </a:bodyPr>
          <a:lstStyle/>
          <a:p>
            <a:r>
              <a:rPr lang="en-IN" dirty="0"/>
              <a:t>Comparison of System parameters before and after tuning</a:t>
            </a:r>
          </a:p>
        </p:txBody>
      </p:sp>
      <p:pic>
        <p:nvPicPr>
          <p:cNvPr id="5" name="Content Placeholder 4">
            <a:extLst>
              <a:ext uri="{FF2B5EF4-FFF2-40B4-BE49-F238E27FC236}">
                <a16:creationId xmlns:a16="http://schemas.microsoft.com/office/drawing/2014/main" id="{2A019E90-1E81-91AE-D9DC-8FFDA99CEA59}"/>
              </a:ext>
            </a:extLst>
          </p:cNvPr>
          <p:cNvPicPr>
            <a:picLocks noGrp="1" noChangeAspect="1"/>
          </p:cNvPicPr>
          <p:nvPr>
            <p:ph idx="1"/>
          </p:nvPr>
        </p:nvPicPr>
        <p:blipFill>
          <a:blip r:embed="rId2"/>
          <a:stretch>
            <a:fillRect/>
          </a:stretch>
        </p:blipFill>
        <p:spPr>
          <a:xfrm>
            <a:off x="1809493" y="1532377"/>
            <a:ext cx="8062093" cy="4901505"/>
          </a:xfrm>
          <a:prstGeom prst="rect">
            <a:avLst/>
          </a:prstGeom>
        </p:spPr>
      </p:pic>
    </p:spTree>
    <p:extLst>
      <p:ext uri="{BB962C8B-B14F-4D97-AF65-F5344CB8AC3E}">
        <p14:creationId xmlns:p14="http://schemas.microsoft.com/office/powerpoint/2010/main" val="3119723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0DC470-CBE0-51E3-414E-F9EE6AB31DE7}"/>
              </a:ext>
            </a:extLst>
          </p:cNvPr>
          <p:cNvSpPr>
            <a:spLocks noGrp="1"/>
          </p:cNvSpPr>
          <p:nvPr>
            <p:ph idx="1"/>
          </p:nvPr>
        </p:nvSpPr>
        <p:spPr>
          <a:xfrm>
            <a:off x="1276598" y="4542502"/>
            <a:ext cx="9638804" cy="1917373"/>
          </a:xfrm>
        </p:spPr>
        <p:txBody>
          <a:bodyPr/>
          <a:lstStyle/>
          <a:p>
            <a:pPr marL="0" indent="0">
              <a:buNone/>
            </a:pPr>
            <a:r>
              <a:rPr lang="en-IN" dirty="0"/>
              <a:t>In above figures, MATLAB function1 represents the desired x position and function 2 represents the actual x position, first image is before tuning and the second is after tuning, both merged into one.</a:t>
            </a:r>
          </a:p>
          <a:p>
            <a:pPr marL="0" indent="0">
              <a:buNone/>
            </a:pPr>
            <a:endParaRPr lang="en-IN" sz="2400" dirty="0"/>
          </a:p>
        </p:txBody>
      </p:sp>
      <p:pic>
        <p:nvPicPr>
          <p:cNvPr id="4" name="Picture 3">
            <a:extLst>
              <a:ext uri="{FF2B5EF4-FFF2-40B4-BE49-F238E27FC236}">
                <a16:creationId xmlns:a16="http://schemas.microsoft.com/office/drawing/2014/main" id="{0124FF9B-C3EE-A663-AC3C-54980FCBB70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59987" y="584938"/>
            <a:ext cx="4872468" cy="3248312"/>
          </a:xfrm>
          <a:prstGeom prst="rect">
            <a:avLst/>
          </a:prstGeom>
          <a:noFill/>
          <a:ln>
            <a:noFill/>
          </a:ln>
        </p:spPr>
      </p:pic>
      <p:pic>
        <p:nvPicPr>
          <p:cNvPr id="5" name="Picture 4">
            <a:extLst>
              <a:ext uri="{FF2B5EF4-FFF2-40B4-BE49-F238E27FC236}">
                <a16:creationId xmlns:a16="http://schemas.microsoft.com/office/drawing/2014/main" id="{3BE534FD-0DE0-6587-741D-E7276F689ED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32455" y="584938"/>
            <a:ext cx="5261816" cy="3248312"/>
          </a:xfrm>
          <a:prstGeom prst="rect">
            <a:avLst/>
          </a:prstGeom>
          <a:noFill/>
          <a:ln>
            <a:noFill/>
          </a:ln>
        </p:spPr>
      </p:pic>
    </p:spTree>
    <p:extLst>
      <p:ext uri="{BB962C8B-B14F-4D97-AF65-F5344CB8AC3E}">
        <p14:creationId xmlns:p14="http://schemas.microsoft.com/office/powerpoint/2010/main" val="3122678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F7D38-FE6E-7DB7-FB68-2928BF14E25E}"/>
              </a:ext>
            </a:extLst>
          </p:cNvPr>
          <p:cNvSpPr>
            <a:spLocks noGrp="1"/>
          </p:cNvSpPr>
          <p:nvPr>
            <p:ph type="title"/>
          </p:nvPr>
        </p:nvSpPr>
        <p:spPr/>
        <p:txBody>
          <a:bodyPr/>
          <a:lstStyle/>
          <a:p>
            <a:r>
              <a:rPr lang="en-IN" dirty="0"/>
              <a:t>Results &amp; Discussion</a:t>
            </a:r>
          </a:p>
        </p:txBody>
      </p:sp>
      <p:sp>
        <p:nvSpPr>
          <p:cNvPr id="3" name="Content Placeholder 2">
            <a:extLst>
              <a:ext uri="{FF2B5EF4-FFF2-40B4-BE49-F238E27FC236}">
                <a16:creationId xmlns:a16="http://schemas.microsoft.com/office/drawing/2014/main" id="{465CC8D6-001D-7D32-2A46-29ECD7D8CAA5}"/>
              </a:ext>
            </a:extLst>
          </p:cNvPr>
          <p:cNvSpPr>
            <a:spLocks noGrp="1"/>
          </p:cNvSpPr>
          <p:nvPr>
            <p:ph idx="1"/>
          </p:nvPr>
        </p:nvSpPr>
        <p:spPr>
          <a:xfrm>
            <a:off x="425248" y="1663997"/>
            <a:ext cx="6005050" cy="4120178"/>
          </a:xfrm>
        </p:spPr>
        <p:txBody>
          <a:bodyPr>
            <a:normAutofit lnSpcReduction="10000"/>
          </a:bodyPr>
          <a:lstStyle/>
          <a:p>
            <a:pPr marL="0" indent="0" algn="just">
              <a:buNone/>
            </a:pPr>
            <a:r>
              <a:rPr lang="en-IN" dirty="0"/>
              <a:t>Plot for Reference tracking</a:t>
            </a:r>
          </a:p>
          <a:p>
            <a:pPr marL="0" indent="0" algn="just">
              <a:buNone/>
            </a:pPr>
            <a:r>
              <a:rPr lang="en-IN" sz="2400" dirty="0"/>
              <a:t>This plot represents how two control configurations respond to a step input, dashed line represents the block response and solid line represents the tuned response, here tuned response rises quickly to the desired value, it has a slight overshoot but settled quickly. This indicates a well-tuned PID with good stability and faster convergence, whereas the block response rises slowly and has large overshoot because it wasn’t tuned well.</a:t>
            </a:r>
          </a:p>
          <a:p>
            <a:pPr marL="0" indent="0" algn="just">
              <a:buNone/>
            </a:pPr>
            <a:endParaRPr lang="en-IN" dirty="0"/>
          </a:p>
        </p:txBody>
      </p:sp>
      <p:pic>
        <p:nvPicPr>
          <p:cNvPr id="4" name="Picture 3">
            <a:extLst>
              <a:ext uri="{FF2B5EF4-FFF2-40B4-BE49-F238E27FC236}">
                <a16:creationId xmlns:a16="http://schemas.microsoft.com/office/drawing/2014/main" id="{7823DD63-6232-9C29-EFEB-C56BD3E48BB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01236" y="1792277"/>
            <a:ext cx="5265516" cy="3694124"/>
          </a:xfrm>
          <a:prstGeom prst="rect">
            <a:avLst/>
          </a:prstGeom>
          <a:noFill/>
          <a:ln>
            <a:noFill/>
          </a:ln>
        </p:spPr>
      </p:pic>
    </p:spTree>
    <p:extLst>
      <p:ext uri="{BB962C8B-B14F-4D97-AF65-F5344CB8AC3E}">
        <p14:creationId xmlns:p14="http://schemas.microsoft.com/office/powerpoint/2010/main" val="42623774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065F5-2FD3-125A-39A0-E5B7EF4D1547}"/>
              </a:ext>
            </a:extLst>
          </p:cNvPr>
          <p:cNvSpPr>
            <a:spLocks noGrp="1"/>
          </p:cNvSpPr>
          <p:nvPr>
            <p:ph type="title"/>
          </p:nvPr>
        </p:nvSpPr>
        <p:spPr/>
        <p:txBody>
          <a:bodyPr/>
          <a:lstStyle/>
          <a:p>
            <a:r>
              <a:rPr lang="en-IN" dirty="0"/>
              <a:t>Results &amp; Discussion</a:t>
            </a:r>
          </a:p>
        </p:txBody>
      </p:sp>
      <p:sp>
        <p:nvSpPr>
          <p:cNvPr id="3" name="Content Placeholder 2">
            <a:extLst>
              <a:ext uri="{FF2B5EF4-FFF2-40B4-BE49-F238E27FC236}">
                <a16:creationId xmlns:a16="http://schemas.microsoft.com/office/drawing/2014/main" id="{0BB71DAE-5469-DE51-5F18-856C29929A0E}"/>
              </a:ext>
            </a:extLst>
          </p:cNvPr>
          <p:cNvSpPr>
            <a:spLocks noGrp="1"/>
          </p:cNvSpPr>
          <p:nvPr>
            <p:ph idx="1"/>
          </p:nvPr>
        </p:nvSpPr>
        <p:spPr>
          <a:xfrm>
            <a:off x="838201" y="1825625"/>
            <a:ext cx="5257799" cy="4351338"/>
          </a:xfrm>
        </p:spPr>
        <p:txBody>
          <a:bodyPr>
            <a:normAutofit lnSpcReduction="10000"/>
          </a:bodyPr>
          <a:lstStyle/>
          <a:p>
            <a:pPr marL="0" indent="0" algn="just">
              <a:buNone/>
            </a:pPr>
            <a:r>
              <a:rPr lang="en-IN" dirty="0"/>
              <a:t>Plot for input disturbance rejection</a:t>
            </a:r>
          </a:p>
          <a:p>
            <a:pPr marL="0" indent="0" algn="just">
              <a:buNone/>
            </a:pPr>
            <a:r>
              <a:rPr lang="en-IN" sz="2400" dirty="0"/>
              <a:t>This plot compares how two control configurations respond to unexpected disturbance, such as sudden torque or force applied to the system. Block response shows system reacted more strongly to the disturbance, it is less resistant to disturbance rejection due to not tuning control parameters, solid line represents the tuned response has minimum amplitude indicating more resistant to disturbances because of proper tuning.</a:t>
            </a:r>
          </a:p>
        </p:txBody>
      </p:sp>
      <p:pic>
        <p:nvPicPr>
          <p:cNvPr id="4" name="Picture 3">
            <a:extLst>
              <a:ext uri="{FF2B5EF4-FFF2-40B4-BE49-F238E27FC236}">
                <a16:creationId xmlns:a16="http://schemas.microsoft.com/office/drawing/2014/main" id="{EC379B37-4648-4C18-0E35-6EB845654A4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446765" y="1930539"/>
            <a:ext cx="5489755" cy="3664016"/>
          </a:xfrm>
          <a:prstGeom prst="rect">
            <a:avLst/>
          </a:prstGeom>
          <a:noFill/>
          <a:ln>
            <a:noFill/>
          </a:ln>
        </p:spPr>
      </p:pic>
    </p:spTree>
    <p:extLst>
      <p:ext uri="{BB962C8B-B14F-4D97-AF65-F5344CB8AC3E}">
        <p14:creationId xmlns:p14="http://schemas.microsoft.com/office/powerpoint/2010/main" val="41017728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1E2933-E30E-B46D-6416-9D48C5D7F353}"/>
              </a:ext>
            </a:extLst>
          </p:cNvPr>
          <p:cNvSpPr>
            <a:spLocks noGrp="1"/>
          </p:cNvSpPr>
          <p:nvPr>
            <p:ph idx="1"/>
          </p:nvPr>
        </p:nvSpPr>
        <p:spPr>
          <a:xfrm>
            <a:off x="580103" y="1098037"/>
            <a:ext cx="4726858" cy="4398196"/>
          </a:xfrm>
        </p:spPr>
        <p:txBody>
          <a:bodyPr/>
          <a:lstStyle/>
          <a:p>
            <a:pPr marL="0" indent="0" algn="ctr">
              <a:buNone/>
            </a:pPr>
            <a:r>
              <a:rPr lang="en-IN" dirty="0"/>
              <a:t>Trajectory comparison:</a:t>
            </a:r>
          </a:p>
          <a:p>
            <a:pPr marL="0" indent="0">
              <a:buNone/>
            </a:pPr>
            <a:r>
              <a:rPr lang="en-IN" sz="2600" dirty="0"/>
              <a:t>The figures shown clearly expresses the differences, the first one was before adding angle wrap blocks and the second one  was after the angle wrap  block was applied, we can clearly see the corrections, improvement in aligning of the trajectory. </a:t>
            </a:r>
          </a:p>
          <a:p>
            <a:pPr marL="0" indent="0" algn="ctr">
              <a:buNone/>
            </a:pPr>
            <a:endParaRPr lang="en-IN" dirty="0"/>
          </a:p>
        </p:txBody>
      </p:sp>
      <p:pic>
        <p:nvPicPr>
          <p:cNvPr id="4" name="Picture 3">
            <a:extLst>
              <a:ext uri="{FF2B5EF4-FFF2-40B4-BE49-F238E27FC236}">
                <a16:creationId xmlns:a16="http://schemas.microsoft.com/office/drawing/2014/main" id="{4F2B152D-18C7-D744-C8B4-CC2D180CF7B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33619" y="519069"/>
            <a:ext cx="6174923" cy="2763610"/>
          </a:xfrm>
          <a:prstGeom prst="rect">
            <a:avLst/>
          </a:prstGeom>
          <a:noFill/>
          <a:ln>
            <a:noFill/>
          </a:ln>
        </p:spPr>
      </p:pic>
      <p:pic>
        <p:nvPicPr>
          <p:cNvPr id="5" name="Picture 4">
            <a:extLst>
              <a:ext uri="{FF2B5EF4-FFF2-40B4-BE49-F238E27FC236}">
                <a16:creationId xmlns:a16="http://schemas.microsoft.com/office/drawing/2014/main" id="{41DB1551-92D2-8947-EB07-EEC16DB0490F}"/>
              </a:ext>
            </a:extLst>
          </p:cNvPr>
          <p:cNvPicPr>
            <a:picLocks noChangeAspect="1"/>
          </p:cNvPicPr>
          <p:nvPr/>
        </p:nvPicPr>
        <p:blipFill>
          <a:blip r:embed="rId3"/>
          <a:stretch>
            <a:fillRect/>
          </a:stretch>
        </p:blipFill>
        <p:spPr>
          <a:xfrm>
            <a:off x="5633618" y="3457339"/>
            <a:ext cx="6174923" cy="3137319"/>
          </a:xfrm>
          <a:prstGeom prst="rect">
            <a:avLst/>
          </a:prstGeom>
        </p:spPr>
      </p:pic>
    </p:spTree>
    <p:extLst>
      <p:ext uri="{BB962C8B-B14F-4D97-AF65-F5344CB8AC3E}">
        <p14:creationId xmlns:p14="http://schemas.microsoft.com/office/powerpoint/2010/main" val="387287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966FEF-5CB2-6AA4-A43C-0614BB2193C5}"/>
              </a:ext>
            </a:extLst>
          </p:cNvPr>
          <p:cNvSpPr>
            <a:spLocks noGrp="1"/>
          </p:cNvSpPr>
          <p:nvPr>
            <p:ph idx="1"/>
          </p:nvPr>
        </p:nvSpPr>
        <p:spPr>
          <a:xfrm>
            <a:off x="226142" y="924232"/>
            <a:ext cx="4296697" cy="4241376"/>
          </a:xfrm>
        </p:spPr>
        <p:txBody>
          <a:bodyPr>
            <a:normAutofit/>
          </a:bodyPr>
          <a:lstStyle/>
          <a:p>
            <a:pPr marL="0" indent="0">
              <a:buNone/>
            </a:pPr>
            <a:r>
              <a:rPr lang="en-IN" dirty="0"/>
              <a:t>The figures shown are some desired vs actual trajectory shapes after tuning the parameters and adding angle wrap blocks.</a:t>
            </a:r>
          </a:p>
          <a:p>
            <a:pPr marL="0" indent="0">
              <a:buNone/>
            </a:pPr>
            <a:r>
              <a:rPr lang="en-IN" dirty="0"/>
              <a:t>The first figure shows the trajectory of an ellipse.</a:t>
            </a:r>
          </a:p>
          <a:p>
            <a:pPr marL="0" indent="0">
              <a:buNone/>
            </a:pPr>
            <a:r>
              <a:rPr lang="en-IN" dirty="0"/>
              <a:t>The second figure shows the trajectory of a 4-sided polygon.</a:t>
            </a:r>
          </a:p>
          <a:p>
            <a:pPr marL="0" indent="0">
              <a:buNone/>
            </a:pPr>
            <a:endParaRPr lang="en-IN" dirty="0"/>
          </a:p>
          <a:p>
            <a:pPr marL="0" indent="0">
              <a:buNone/>
            </a:pPr>
            <a:endParaRPr lang="en-IN" dirty="0"/>
          </a:p>
        </p:txBody>
      </p:sp>
      <p:pic>
        <p:nvPicPr>
          <p:cNvPr id="4" name="Picture 3">
            <a:extLst>
              <a:ext uri="{FF2B5EF4-FFF2-40B4-BE49-F238E27FC236}">
                <a16:creationId xmlns:a16="http://schemas.microsoft.com/office/drawing/2014/main" id="{754EB339-6F61-58A6-5A12-291568C186E0}"/>
              </a:ext>
            </a:extLst>
          </p:cNvPr>
          <p:cNvPicPr>
            <a:picLocks noChangeAspect="1"/>
          </p:cNvPicPr>
          <p:nvPr/>
        </p:nvPicPr>
        <p:blipFill>
          <a:blip r:embed="rId2"/>
          <a:stretch>
            <a:fillRect/>
          </a:stretch>
        </p:blipFill>
        <p:spPr>
          <a:xfrm>
            <a:off x="4666770" y="275303"/>
            <a:ext cx="6768934" cy="2714636"/>
          </a:xfrm>
          <a:prstGeom prst="rect">
            <a:avLst/>
          </a:prstGeom>
        </p:spPr>
      </p:pic>
      <p:pic>
        <p:nvPicPr>
          <p:cNvPr id="5" name="Picture 4">
            <a:extLst>
              <a:ext uri="{FF2B5EF4-FFF2-40B4-BE49-F238E27FC236}">
                <a16:creationId xmlns:a16="http://schemas.microsoft.com/office/drawing/2014/main" id="{BC31E185-E434-E4A8-5433-6D06C8C2DAF8}"/>
              </a:ext>
            </a:extLst>
          </p:cNvPr>
          <p:cNvPicPr>
            <a:picLocks noChangeAspect="1"/>
          </p:cNvPicPr>
          <p:nvPr/>
        </p:nvPicPr>
        <p:blipFill>
          <a:blip r:embed="rId3"/>
          <a:stretch>
            <a:fillRect/>
          </a:stretch>
        </p:blipFill>
        <p:spPr>
          <a:xfrm>
            <a:off x="4601283" y="3294739"/>
            <a:ext cx="6834421" cy="3187024"/>
          </a:xfrm>
          <a:prstGeom prst="rect">
            <a:avLst/>
          </a:prstGeom>
        </p:spPr>
      </p:pic>
    </p:spTree>
    <p:extLst>
      <p:ext uri="{BB962C8B-B14F-4D97-AF65-F5344CB8AC3E}">
        <p14:creationId xmlns:p14="http://schemas.microsoft.com/office/powerpoint/2010/main" val="38315021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C7540-7970-D671-6988-636D328411B7}"/>
              </a:ext>
            </a:extLst>
          </p:cNvPr>
          <p:cNvSpPr>
            <a:spLocks noGrp="1"/>
          </p:cNvSpPr>
          <p:nvPr>
            <p:ph type="title"/>
          </p:nvPr>
        </p:nvSpPr>
        <p:spPr>
          <a:xfrm>
            <a:off x="838200" y="500062"/>
            <a:ext cx="10515600" cy="1325563"/>
          </a:xfrm>
        </p:spPr>
        <p:txBody>
          <a:bodyPr/>
          <a:lstStyle/>
          <a:p>
            <a:r>
              <a:rPr lang="en-IN" dirty="0"/>
              <a:t>Disturbance rejection</a:t>
            </a:r>
          </a:p>
        </p:txBody>
      </p:sp>
      <p:sp>
        <p:nvSpPr>
          <p:cNvPr id="3" name="Content Placeholder 2">
            <a:extLst>
              <a:ext uri="{FF2B5EF4-FFF2-40B4-BE49-F238E27FC236}">
                <a16:creationId xmlns:a16="http://schemas.microsoft.com/office/drawing/2014/main" id="{02FFC191-7582-D566-AD5F-E4B22C693E6F}"/>
              </a:ext>
            </a:extLst>
          </p:cNvPr>
          <p:cNvSpPr>
            <a:spLocks noGrp="1"/>
          </p:cNvSpPr>
          <p:nvPr>
            <p:ph idx="1"/>
          </p:nvPr>
        </p:nvSpPr>
        <p:spPr>
          <a:xfrm>
            <a:off x="838200" y="1825625"/>
            <a:ext cx="10515600" cy="4351338"/>
          </a:xfrm>
        </p:spPr>
        <p:txBody>
          <a:bodyPr/>
          <a:lstStyle/>
          <a:p>
            <a:r>
              <a:rPr lang="en-US" dirty="0"/>
              <a:t>A step disturbance was applied at 10 seconds during a 30-second simulation to test robustness. The tuned PID controller remained stable and returned to the desired trajectory for disturbance levels up to ~830 Nm, showing strong rejection of moderate disturbances.</a:t>
            </a:r>
          </a:p>
          <a:p>
            <a:r>
              <a:rPr lang="en-US" dirty="0"/>
              <a:t> Beyond this level, the system exhibited large deviations, oscillations, and failed to recover due to controller saturation and nonlinear effects of the arm.</a:t>
            </a:r>
            <a:endParaRPr lang="en-IN" dirty="0"/>
          </a:p>
        </p:txBody>
      </p:sp>
    </p:spTree>
    <p:extLst>
      <p:ext uri="{BB962C8B-B14F-4D97-AF65-F5344CB8AC3E}">
        <p14:creationId xmlns:p14="http://schemas.microsoft.com/office/powerpoint/2010/main" val="37004218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77EE8B-7457-EC7D-4E62-6A79D0F67D67}"/>
              </a:ext>
            </a:extLst>
          </p:cNvPr>
          <p:cNvSpPr>
            <a:spLocks noGrp="1"/>
          </p:cNvSpPr>
          <p:nvPr>
            <p:ph idx="1"/>
          </p:nvPr>
        </p:nvSpPr>
        <p:spPr>
          <a:xfrm>
            <a:off x="248266" y="980050"/>
            <a:ext cx="6270522" cy="4997963"/>
          </a:xfrm>
        </p:spPr>
        <p:txBody>
          <a:bodyPr>
            <a:normAutofit/>
          </a:bodyPr>
          <a:lstStyle/>
          <a:p>
            <a:pPr marL="0" indent="0">
              <a:buNone/>
            </a:pPr>
            <a:r>
              <a:rPr lang="en-IN" dirty="0"/>
              <a:t>Bode Plot:</a:t>
            </a:r>
          </a:p>
          <a:p>
            <a:pPr marL="0" indent="0">
              <a:buNone/>
            </a:pPr>
            <a:r>
              <a:rPr lang="en-IN" sz="2400" dirty="0"/>
              <a:t>The Bode plot compares the frequency response of tuned and untuned control configurations. The tuned response maintains a flat magnitude near 0 dB, indicating consistent tracking across frequencies, while the block response attenuates high-frequency signals, showing poor tracking. In the phase plot, the tuned system exhibits smoother phase variation, suggesting better timing and stability. The block response shows sharper phase shifts, which can lead to delays and instability. Overall, the tuned controller offers superior reference tracking and robustness in the frequency domain.</a:t>
            </a:r>
          </a:p>
          <a:p>
            <a:pPr marL="0" indent="0">
              <a:buNone/>
            </a:pPr>
            <a:endParaRPr lang="en-IN" dirty="0"/>
          </a:p>
        </p:txBody>
      </p:sp>
      <p:pic>
        <p:nvPicPr>
          <p:cNvPr id="4" name="Picture 3">
            <a:extLst>
              <a:ext uri="{FF2B5EF4-FFF2-40B4-BE49-F238E27FC236}">
                <a16:creationId xmlns:a16="http://schemas.microsoft.com/office/drawing/2014/main" id="{F069D472-66AD-339E-7914-304DE56708C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36775" y="1200784"/>
            <a:ext cx="5174117" cy="4600247"/>
          </a:xfrm>
          <a:prstGeom prst="rect">
            <a:avLst/>
          </a:prstGeom>
          <a:noFill/>
          <a:ln>
            <a:noFill/>
          </a:ln>
        </p:spPr>
      </p:pic>
    </p:spTree>
    <p:extLst>
      <p:ext uri="{BB962C8B-B14F-4D97-AF65-F5344CB8AC3E}">
        <p14:creationId xmlns:p14="http://schemas.microsoft.com/office/powerpoint/2010/main" val="21568193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902D8-CAC1-D423-030D-32C613CF625F}"/>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498FD457-181D-D3E2-9783-A31F9BBCFE74}"/>
              </a:ext>
            </a:extLst>
          </p:cNvPr>
          <p:cNvSpPr>
            <a:spLocks noGrp="1"/>
          </p:cNvSpPr>
          <p:nvPr>
            <p:ph idx="1"/>
          </p:nvPr>
        </p:nvSpPr>
        <p:spPr/>
        <p:txBody>
          <a:bodyPr/>
          <a:lstStyle/>
          <a:p>
            <a:pPr marL="0" indent="0" algn="just">
              <a:buNone/>
            </a:pPr>
            <a:r>
              <a:rPr lang="en-US" dirty="0"/>
              <a:t>In this project, control analysis of a 2-DOF robotic arm is done successfully. It was done by deriving its kinematic and dynamic models, linearizing the nonlinear system, and designing a tuned PID controller. Simulations in MATLAB/Simulink were used to test trajectory tracking, stability, and disturbance response. The tuned controller performed much better than the untuned system, showing faster response, improved stability, and strong disturbance rejection. Overall, the study helped us understand how a 2-link robotic arm behaves under control and highlighted the importance of accurate modelling and proper tuning for reliable robotic performance.</a:t>
            </a:r>
          </a:p>
          <a:p>
            <a:pPr marL="0" indent="0">
              <a:buNone/>
            </a:pPr>
            <a:endParaRPr lang="en-IN" dirty="0"/>
          </a:p>
        </p:txBody>
      </p:sp>
    </p:spTree>
    <p:extLst>
      <p:ext uri="{BB962C8B-B14F-4D97-AF65-F5344CB8AC3E}">
        <p14:creationId xmlns:p14="http://schemas.microsoft.com/office/powerpoint/2010/main" val="39327257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A5355-1A5B-37F1-7AA4-48D1C10395E3}"/>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936F623F-118F-0913-1A39-CB217DF7890F}"/>
              </a:ext>
            </a:extLst>
          </p:cNvPr>
          <p:cNvSpPr>
            <a:spLocks noGrp="1"/>
          </p:cNvSpPr>
          <p:nvPr>
            <p:ph idx="1"/>
          </p:nvPr>
        </p:nvSpPr>
        <p:spPr/>
        <p:txBody>
          <a:bodyPr>
            <a:normAutofit fontScale="55000" lnSpcReduction="20000"/>
          </a:bodyPr>
          <a:lstStyle/>
          <a:p>
            <a:pPr marL="342900" lvl="0" indent="-342900">
              <a:lnSpc>
                <a:spcPct val="115000"/>
              </a:lnSpc>
              <a:buFont typeface="Symbol" panose="05050102010706020507" pitchFamily="18" charset="2"/>
              <a:buChar char=""/>
            </a:pPr>
            <a:r>
              <a:rPr lang="en-IN" sz="2800" i="1" kern="100" dirty="0">
                <a:effectLst/>
                <a:latin typeface="Times New Roman" panose="02020603050405020304" pitchFamily="18" charset="0"/>
                <a:ea typeface="Aptos" panose="020B0004020202020204" pitchFamily="34" charset="0"/>
                <a:cs typeface="Times New Roman" panose="02020603050405020304" pitchFamily="18" charset="0"/>
              </a:rPr>
              <a:t>Mechanical Design, Control, and Laboratory Test of a Two-Degrees-of-Freedom Elbow Prosthesis</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IN" sz="2800" i="1" kern="100" dirty="0">
                <a:effectLst/>
                <a:latin typeface="Times New Roman" panose="02020603050405020304" pitchFamily="18" charset="0"/>
                <a:ea typeface="Aptos" panose="020B0004020202020204" pitchFamily="34" charset="0"/>
                <a:cs typeface="Times New Roman" panose="02020603050405020304" pitchFamily="18" charset="0"/>
              </a:rPr>
              <a:t>Design and Implementation of 2-DOF Arm Manipulator Robot as Robotic Kinematic Learning Platform </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IN" sz="2800" i="1" kern="100" dirty="0">
                <a:effectLst/>
                <a:latin typeface="Times New Roman" panose="02020603050405020304" pitchFamily="18" charset="0"/>
                <a:ea typeface="Aptos" panose="020B0004020202020204" pitchFamily="34" charset="0"/>
                <a:cs typeface="Times New Roman" panose="02020603050405020304" pitchFamily="18" charset="0"/>
              </a:rPr>
              <a:t>Design, Simulation and Control of a 2 DOF Robotic Arm for Correction and Training of Craft Turning</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IN" sz="2800" i="1" kern="100" dirty="0">
                <a:effectLst/>
                <a:latin typeface="Times New Roman" panose="02020603050405020304" pitchFamily="18" charset="0"/>
                <a:ea typeface="Aptos" panose="020B0004020202020204" pitchFamily="34" charset="0"/>
                <a:cs typeface="Times New Roman" panose="02020603050405020304" pitchFamily="18" charset="0"/>
              </a:rPr>
              <a:t>Design and Simulation of a 2 </a:t>
            </a:r>
            <a:r>
              <a:rPr lang="en-IN" sz="2800" i="1" kern="100" dirty="0" err="1">
                <a:effectLst/>
                <a:latin typeface="Times New Roman" panose="02020603050405020304" pitchFamily="18" charset="0"/>
                <a:ea typeface="Aptos" panose="020B0004020202020204" pitchFamily="34" charset="0"/>
                <a:cs typeface="Times New Roman" panose="02020603050405020304" pitchFamily="18" charset="0"/>
              </a:rPr>
              <a:t>DoF</a:t>
            </a:r>
            <a:r>
              <a:rPr lang="en-IN" sz="2800" i="1" kern="100" dirty="0">
                <a:effectLst/>
                <a:latin typeface="Times New Roman" panose="02020603050405020304" pitchFamily="18" charset="0"/>
                <a:ea typeface="Aptos" panose="020B0004020202020204" pitchFamily="34" charset="0"/>
                <a:cs typeface="Times New Roman" panose="02020603050405020304" pitchFamily="18" charset="0"/>
              </a:rPr>
              <a:t> Robotic Arm for TIG Welding</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buFont typeface="Symbol" panose="05050102010706020507" pitchFamily="18" charset="2"/>
              <a:buChar char=""/>
              <a:tabLst>
                <a:tab pos="1805940" algn="l"/>
              </a:tabLst>
            </a:pPr>
            <a:r>
              <a:rPr lang="en-IN" sz="2800" i="1" kern="100" dirty="0">
                <a:effectLst/>
                <a:latin typeface="Times New Roman" panose="02020603050405020304" pitchFamily="18" charset="0"/>
                <a:ea typeface="Aptos" panose="020B0004020202020204" pitchFamily="34" charset="0"/>
                <a:cs typeface="Times New Roman" panose="02020603050405020304" pitchFamily="18" charset="0"/>
              </a:rPr>
              <a:t>Design and Simulation of a Novel Humanoid Robotic Arm</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IN" sz="2800" i="1" kern="100" dirty="0">
                <a:effectLst/>
                <a:latin typeface="Times New Roman" panose="02020603050405020304" pitchFamily="18" charset="0"/>
                <a:ea typeface="Aptos" panose="020B0004020202020204" pitchFamily="34" charset="0"/>
                <a:cs typeface="Times New Roman" panose="02020603050405020304" pitchFamily="18" charset="0"/>
              </a:rPr>
              <a:t>Parameters Identification Based on PD Controller for A 2-DOF Robotic Arm System</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IN" sz="2800" i="1" kern="100" dirty="0">
                <a:effectLst/>
                <a:latin typeface="Times New Roman" panose="02020603050405020304" pitchFamily="18" charset="0"/>
                <a:ea typeface="Aptos" panose="020B0004020202020204" pitchFamily="34" charset="0"/>
                <a:cs typeface="Times New Roman" panose="02020603050405020304" pitchFamily="18" charset="0"/>
              </a:rPr>
              <a:t>Adaptive controller algorithm for 2-DOF humanoid robot arm Adam Tan Mohd Amina*, Abdul Hakim Ab Rahima, Cheng Yee </a:t>
            </a:r>
            <a:r>
              <a:rPr lang="en-IN" sz="2800" i="1" kern="100" dirty="0" err="1">
                <a:effectLst/>
                <a:latin typeface="Times New Roman" panose="02020603050405020304" pitchFamily="18" charset="0"/>
                <a:ea typeface="Aptos" panose="020B0004020202020204" pitchFamily="34" charset="0"/>
                <a:cs typeface="Times New Roman" panose="02020603050405020304" pitchFamily="18" charset="0"/>
              </a:rPr>
              <a:t>Lowa,b</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IN" sz="2800" i="1" kern="100" dirty="0">
                <a:effectLst/>
                <a:latin typeface="Times New Roman" panose="02020603050405020304" pitchFamily="18" charset="0"/>
                <a:ea typeface="Aptos" panose="020B0004020202020204" pitchFamily="34" charset="0"/>
                <a:cs typeface="Times New Roman" panose="02020603050405020304" pitchFamily="18" charset="0"/>
              </a:rPr>
              <a:t>Force-Torque Control Implementation for 2 </a:t>
            </a:r>
            <a:r>
              <a:rPr lang="en-IN" sz="2800" i="1" kern="100" dirty="0" err="1">
                <a:effectLst/>
                <a:latin typeface="Times New Roman" panose="02020603050405020304" pitchFamily="18" charset="0"/>
                <a:ea typeface="Aptos" panose="020B0004020202020204" pitchFamily="34" charset="0"/>
                <a:cs typeface="Times New Roman" panose="02020603050405020304" pitchFamily="18" charset="0"/>
              </a:rPr>
              <a:t>DoF</a:t>
            </a:r>
            <a:r>
              <a:rPr lang="en-IN" sz="2800" i="1" kern="100" dirty="0">
                <a:effectLst/>
                <a:latin typeface="Times New Roman" panose="02020603050405020304" pitchFamily="18" charset="0"/>
                <a:ea typeface="Aptos" panose="020B0004020202020204" pitchFamily="34" charset="0"/>
                <a:cs typeface="Times New Roman" panose="02020603050405020304" pitchFamily="18" charset="0"/>
              </a:rPr>
              <a:t> Manipulator</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p>
            <a:pPr marL="457200">
              <a:lnSpc>
                <a:spcPct val="115000"/>
              </a:lnSpc>
              <a:buNone/>
            </a:pPr>
            <a:r>
              <a:rPr lang="en-IN" sz="2800" i="1" kern="100" dirty="0">
                <a:effectLst/>
                <a:latin typeface="Times New Roman" panose="02020603050405020304" pitchFamily="18" charset="0"/>
                <a:ea typeface="Aptos" panose="020B0004020202020204" pitchFamily="34" charset="0"/>
                <a:cs typeface="Times New Roman" panose="02020603050405020304" pitchFamily="18" charset="0"/>
              </a:rPr>
              <a:t>Victor Titov*, </a:t>
            </a:r>
            <a:r>
              <a:rPr lang="en-IN" sz="2800" i="1" kern="100" dirty="0" err="1">
                <a:effectLst/>
                <a:latin typeface="Times New Roman" panose="02020603050405020304" pitchFamily="18" charset="0"/>
                <a:ea typeface="Aptos" panose="020B0004020202020204" pitchFamily="34" charset="0"/>
                <a:cs typeface="Times New Roman" panose="02020603050405020304" pitchFamily="18" charset="0"/>
              </a:rPr>
              <a:t>I.Shardyko</a:t>
            </a:r>
            <a:r>
              <a:rPr lang="en-IN" sz="2800" i="1" kern="100" dirty="0">
                <a:effectLst/>
                <a:latin typeface="Times New Roman" panose="02020603050405020304" pitchFamily="18" charset="0"/>
                <a:ea typeface="Aptos" panose="020B0004020202020204" pitchFamily="34" charset="0"/>
                <a:cs typeface="Times New Roman" panose="02020603050405020304" pitchFamily="18" charset="0"/>
              </a:rPr>
              <a:t>, Sergey </a:t>
            </a:r>
            <a:r>
              <a:rPr lang="en-IN" sz="2800" i="1" kern="100" dirty="0" err="1">
                <a:effectLst/>
                <a:latin typeface="Times New Roman" panose="02020603050405020304" pitchFamily="18" charset="0"/>
                <a:ea typeface="Aptos" panose="020B0004020202020204" pitchFamily="34" charset="0"/>
                <a:cs typeface="Times New Roman" panose="02020603050405020304" pitchFamily="18" charset="0"/>
              </a:rPr>
              <a:t>Isaenko</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IN" sz="2800" i="1" kern="100" dirty="0">
                <a:effectLst/>
                <a:latin typeface="Times New Roman" panose="02020603050405020304" pitchFamily="18" charset="0"/>
                <a:ea typeface="Aptos" panose="020B0004020202020204" pitchFamily="34" charset="0"/>
                <a:cs typeface="Times New Roman" panose="02020603050405020304" pitchFamily="18" charset="0"/>
              </a:rPr>
              <a:t>Dynamic modelling of 2-DOF luffing mechanism with serial closed kinematic chains</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p>
            <a:pPr marL="457200">
              <a:lnSpc>
                <a:spcPct val="115000"/>
              </a:lnSpc>
              <a:spcAft>
                <a:spcPts val="800"/>
              </a:spcAft>
              <a:buNone/>
            </a:pPr>
            <a:r>
              <a:rPr lang="en-IN" sz="2800" i="1" kern="100" dirty="0">
                <a:effectLst/>
                <a:latin typeface="Times New Roman" panose="02020603050405020304" pitchFamily="18" charset="0"/>
                <a:ea typeface="Aptos" panose="020B0004020202020204" pitchFamily="34" charset="0"/>
                <a:cs typeface="Times New Roman" panose="02020603050405020304" pitchFamily="18" charset="0"/>
              </a:rPr>
              <a:t>ZHU Zhen-xin1, ZHU Jian-xin1, KANG Hui-mei2, QIAN Huan-yun3</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4274617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E9904-FA84-9F4C-6DC2-173081287F69}"/>
              </a:ext>
            </a:extLst>
          </p:cNvPr>
          <p:cNvSpPr>
            <a:spLocks noGrp="1"/>
          </p:cNvSpPr>
          <p:nvPr>
            <p:ph type="title"/>
          </p:nvPr>
        </p:nvSpPr>
        <p:spPr>
          <a:xfrm>
            <a:off x="838200" y="2577383"/>
            <a:ext cx="10515600" cy="1325563"/>
          </a:xfrm>
        </p:spPr>
        <p:txBody>
          <a:bodyPr/>
          <a:lstStyle/>
          <a:p>
            <a:pPr algn="ctr"/>
            <a:r>
              <a:rPr lang="en-IN" b="1" dirty="0"/>
              <a:t>Thank You</a:t>
            </a:r>
          </a:p>
        </p:txBody>
      </p:sp>
    </p:spTree>
    <p:extLst>
      <p:ext uri="{BB962C8B-B14F-4D97-AF65-F5344CB8AC3E}">
        <p14:creationId xmlns:p14="http://schemas.microsoft.com/office/powerpoint/2010/main" val="32751948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255</TotalTime>
  <Words>1641</Words>
  <Application>Microsoft Office PowerPoint</Application>
  <PresentationFormat>Widescreen</PresentationFormat>
  <Paragraphs>103</Paragraphs>
  <Slides>28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Aptos</vt:lpstr>
      <vt:lpstr>Arial</vt:lpstr>
      <vt:lpstr>Calibri</vt:lpstr>
      <vt:lpstr>Calibri Light</vt:lpstr>
      <vt:lpstr>Cambria Math</vt:lpstr>
      <vt:lpstr>Symbol</vt:lpstr>
      <vt:lpstr>Times New Roman</vt:lpstr>
      <vt:lpstr>Office Theme</vt:lpstr>
      <vt:lpstr>CONTROL ANALYSIS OF A TWO-LINK ROBOT ARM</vt:lpstr>
      <vt:lpstr>Abstract</vt:lpstr>
      <vt:lpstr>Introduction and Motivation</vt:lpstr>
      <vt:lpstr>Mathematical Model (Kinematics – Part 1)</vt:lpstr>
      <vt:lpstr>Mathematical Model (Kinematics – Part 2)</vt:lpstr>
      <vt:lpstr>Mathematical Model (Dynamics – Part 1)</vt:lpstr>
      <vt:lpstr>PowerPoint Presentation</vt:lpstr>
      <vt:lpstr>Mathematical Model (Dynamics – Part 2: Linearization)</vt:lpstr>
      <vt:lpstr>Linearization</vt:lpstr>
      <vt:lpstr>Steps of linearization</vt:lpstr>
      <vt:lpstr>PowerPoint Presentation</vt:lpstr>
      <vt:lpstr>Parameters used</vt:lpstr>
      <vt:lpstr>Solutions of the State-Space Equation</vt:lpstr>
      <vt:lpstr>Transfer Functions</vt:lpstr>
      <vt:lpstr>Block Diagrams using the Transfer functions</vt:lpstr>
      <vt:lpstr>PowerPoint Presentation</vt:lpstr>
      <vt:lpstr>Comparison of desired and actual trajectories before PID tuning and before angle wrapping.</vt:lpstr>
      <vt:lpstr>Comparison of System parameters before and after tuning</vt:lpstr>
      <vt:lpstr>PowerPoint Presentation</vt:lpstr>
      <vt:lpstr>Results &amp; Discussion</vt:lpstr>
      <vt:lpstr>Results &amp; Discussion</vt:lpstr>
      <vt:lpstr>PowerPoint Presentation</vt:lpstr>
      <vt:lpstr>PowerPoint Presentation</vt:lpstr>
      <vt:lpstr>Disturbance rejection</vt:lpstr>
      <vt:lpstr>PowerPoint Presentation</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VIDYASAGAR TIRANDAS</dc:creator>
  <cp:lastModifiedBy>muhammed shanshad pk</cp:lastModifiedBy>
  <cp:revision>5</cp:revision>
  <dcterms:created xsi:type="dcterms:W3CDTF">2025-11-17T20:14:33Z</dcterms:created>
  <dcterms:modified xsi:type="dcterms:W3CDTF">2025-11-18T05:29:03Z</dcterms:modified>
</cp:coreProperties>
</file>